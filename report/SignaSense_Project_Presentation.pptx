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2" r:id="rId3"/>
    <p:sldId id="273" r:id="rId4"/>
    <p:sldId id="274" r:id="rId5"/>
    <p:sldId id="261" r:id="rId6"/>
    <p:sldId id="264" r:id="rId7"/>
    <p:sldId id="266" r:id="rId8"/>
    <p:sldId id="275" r:id="rId9"/>
    <p:sldId id="267"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7" d="100"/>
          <a:sy n="77" d="100"/>
        </p:scale>
        <p:origin x="806"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5.png"/><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microsoft.com/office/2007/relationships/hdphoto" Target="../media/hdphoto4.wdp"/></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hyperlink" Target="https://doi.org/10.1186/s43067-025-00254-5" TargetMode="External"/><Relationship Id="rId3" Type="http://schemas.openxmlformats.org/officeDocument/2006/relationships/hyperlink" Target="https://www.undp.org/sites/g/files/zskgke326/files/2023-11/undp-a-resilient-future-for-all-advancing-disability-inclusion-in-drr.pdf" TargetMode="External"/><Relationship Id="rId7" Type="http://schemas.openxmlformats.org/officeDocument/2006/relationships/hyperlink" Target="https://medcraveonline.com/IRATJ/IRATJ-08-00253.pdf" TargetMode="Externa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hyperlink" Target="https://doi.org/10.33166/aetic.2023.05.003" TargetMode="External"/><Relationship Id="rId5" Type="http://schemas.openxmlformats.org/officeDocument/2006/relationships/hyperlink" Target="https://library.health.go.ug/sites/default/files/resources/Uganda%20rapid%20Assistive%20Technology%20Assessment%20Booklet%20V.3-2%20Final.pdf" TargetMode="External"/><Relationship Id="rId10" Type="http://schemas.microsoft.com/office/2007/relationships/hdphoto" Target="../media/hdphoto4.wdp"/><Relationship Id="rId4" Type="http://schemas.openxmlformats.org/officeDocument/2006/relationships/hyperlink" Target="https://www.who.int/health-topics/assistive-technology" TargetMode="External"/><Relationship Id="rId9"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 Id="rId4" Type="http://schemas.microsoft.com/office/2007/relationships/hdphoto" Target="../media/hdphoto4.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38F5D27-0DC6-1BD4-BE87-6D488EC6BF57}"/>
              </a:ext>
            </a:extLst>
          </p:cNvPr>
          <p:cNvPicPr>
            <a:picLocks noChangeAspect="1"/>
          </p:cNvPicPr>
          <p:nvPr/>
        </p:nvPicPr>
        <p:blipFill>
          <a:blip r:embed="rId2"/>
          <a:stretch>
            <a:fillRect/>
          </a:stretch>
        </p:blipFill>
        <p:spPr>
          <a:xfrm>
            <a:off x="0" y="0"/>
            <a:ext cx="12192000" cy="6857999"/>
          </a:xfrm>
          <a:prstGeom prst="rect">
            <a:avLst/>
          </a:prstGeom>
        </p:spPr>
      </p:pic>
      <p:pic>
        <p:nvPicPr>
          <p:cNvPr id="2052" name="Picture 4" descr="This may contain: a blue and white sign with a person walking next to a pair of earplugs">
            <a:extLst>
              <a:ext uri="{FF2B5EF4-FFF2-40B4-BE49-F238E27FC236}">
                <a16:creationId xmlns:a16="http://schemas.microsoft.com/office/drawing/2014/main" id="{C534BDA7-A490-4831-E995-352AC6FA4B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1326" y="1842937"/>
            <a:ext cx="3380194" cy="2705074"/>
          </a:xfrm>
          <a:prstGeom prst="roundRect">
            <a:avLst>
              <a:gd name="adj" fmla="val 8594"/>
            </a:avLst>
          </a:prstGeom>
          <a:solidFill>
            <a:srgbClr val="FFFFFF">
              <a:shade val="85000"/>
            </a:srgbClr>
          </a:solidFill>
          <a:ln>
            <a:noFill/>
          </a:ln>
          <a:effectLst/>
        </p:spPr>
      </p:pic>
      <p:sp>
        <p:nvSpPr>
          <p:cNvPr id="2" name="Title 1"/>
          <p:cNvSpPr>
            <a:spLocks noGrp="1"/>
          </p:cNvSpPr>
          <p:nvPr>
            <p:ph type="ctrTitle"/>
          </p:nvPr>
        </p:nvSpPr>
        <p:spPr>
          <a:xfrm>
            <a:off x="1376392" y="911629"/>
            <a:ext cx="6119654" cy="2800036"/>
          </a:xfrm>
        </p:spPr>
        <p:txBody>
          <a:bodyPr/>
          <a:lstStyle/>
          <a:p>
            <a:pPr lvl="0" algn="ctr">
              <a:lnSpc>
                <a:spcPts val="7700"/>
              </a:lnSpc>
              <a:spcBef>
                <a:spcPts val="0"/>
              </a:spcBef>
            </a:pPr>
            <a:r>
              <a:rPr lang="en-US" sz="6150" dirty="0">
                <a:solidFill>
                  <a:srgbClr val="1B1B27"/>
                </a:solidFill>
                <a:latin typeface="Times New Roman" panose="02020603050405020304" pitchFamily="18" charset="0"/>
                <a:ea typeface="Corben" pitchFamily="34" charset="-122"/>
                <a:cs typeface="Times New Roman" panose="02020603050405020304" pitchFamily="18" charset="0"/>
              </a:rPr>
              <a:t>SIGNASENSE</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460480" y="2800036"/>
            <a:ext cx="7851208" cy="1143000"/>
          </a:xfrm>
        </p:spPr>
        <p:txBody>
          <a:bodyPr>
            <a:normAutofit/>
          </a:bodyPr>
          <a:lstStyle/>
          <a:p>
            <a:pPr algn="ctr"/>
            <a:r>
              <a:rPr lang="en-US" sz="2400" dirty="0">
                <a:solidFill>
                  <a:schemeClr val="tx1"/>
                </a:solidFill>
                <a:latin typeface="Times New Roman" panose="02020603050405020304" pitchFamily="18" charset="0"/>
                <a:cs typeface="Times New Roman" panose="02020603050405020304" pitchFamily="18" charset="0"/>
              </a:rPr>
              <a:t> An Integrated Assistive Solution for the Deaf and Blind</a:t>
            </a:r>
          </a:p>
        </p:txBody>
      </p:sp>
      <p:cxnSp>
        <p:nvCxnSpPr>
          <p:cNvPr id="5" name="Straight Connector 4">
            <a:extLst>
              <a:ext uri="{FF2B5EF4-FFF2-40B4-BE49-F238E27FC236}">
                <a16:creationId xmlns:a16="http://schemas.microsoft.com/office/drawing/2014/main" id="{F82CFF8A-70D4-DC34-B097-39A7CF32BC0A}"/>
              </a:ext>
            </a:extLst>
          </p:cNvPr>
          <p:cNvCxnSpPr>
            <a:cxnSpLocks/>
          </p:cNvCxnSpPr>
          <p:nvPr/>
        </p:nvCxnSpPr>
        <p:spPr>
          <a:xfrm>
            <a:off x="924232" y="2772378"/>
            <a:ext cx="7427094" cy="0"/>
          </a:xfrm>
          <a:prstGeom prst="line">
            <a:avLst/>
          </a:prstGeom>
          <a:ln>
            <a:solidFill>
              <a:schemeClr val="tx1"/>
            </a:solidFill>
          </a:ln>
        </p:spPr>
        <p:style>
          <a:lnRef idx="1">
            <a:schemeClr val="dk1"/>
          </a:lnRef>
          <a:fillRef idx="0">
            <a:schemeClr val="dk1"/>
          </a:fillRef>
          <a:effectRef idx="0">
            <a:schemeClr val="dk1"/>
          </a:effectRef>
          <a:fontRef idx="minor">
            <a:schemeClr val="tx1"/>
          </a:fontRef>
        </p:style>
      </p:cxnSp>
      <p:pic>
        <p:nvPicPr>
          <p:cNvPr id="1026" name="Picture 2" descr="This may contain: the letter s is made up of two intersecting lines, and it appears to be black">
            <a:extLst>
              <a:ext uri="{FF2B5EF4-FFF2-40B4-BE49-F238E27FC236}">
                <a16:creationId xmlns:a16="http://schemas.microsoft.com/office/drawing/2014/main" id="{88E54B15-C5AC-D330-21D7-24FEA94DF8C3}"/>
              </a:ext>
            </a:extLst>
          </p:cNvPr>
          <p:cNvPicPr>
            <a:picLocks noChangeAspect="1" noChangeArrowheads="1"/>
          </p:cNvPicPr>
          <p:nvPr/>
        </p:nvPicPr>
        <p:blipFill>
          <a:blip r:embed="rId4" cstate="print">
            <a:extLst>
              <a:ext uri="{BEBA8EAE-BF5A-486C-A8C5-ECC9F3942E4B}">
                <a14:imgProps xmlns:a14="http://schemas.microsoft.com/office/drawing/2010/main">
                  <a14:imgLayer r:embed="rId5">
                    <a14:imgEffect>
                      <a14:backgroundRemoval t="10000" b="90000" l="10000" r="90000">
                        <a14:foregroundMark x1="35623" y1="60383" x2="35623" y2="60383"/>
                        <a14:foregroundMark x1="60703" y1="41054" x2="60703" y2="41054"/>
                      </a14:backgroundRemoval>
                    </a14:imgEffect>
                  </a14:imgLayer>
                </a14:imgProps>
              </a:ext>
              <a:ext uri="{28A0092B-C50C-407E-A947-70E740481C1C}">
                <a14:useLocalDpi xmlns:a14="http://schemas.microsoft.com/office/drawing/2010/main" val="0"/>
              </a:ext>
            </a:extLst>
          </a:blip>
          <a:srcRect/>
          <a:stretch>
            <a:fillRect/>
          </a:stretch>
        </p:blipFill>
        <p:spPr bwMode="auto">
          <a:xfrm>
            <a:off x="3433909" y="345746"/>
            <a:ext cx="1675986" cy="167598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9286B0E-F1DE-6020-4AB2-BD0F6B7931D4}"/>
              </a:ext>
            </a:extLst>
          </p:cNvPr>
          <p:cNvSpPr txBox="1"/>
          <p:nvPr/>
        </p:nvSpPr>
        <p:spPr>
          <a:xfrm>
            <a:off x="371382" y="3869127"/>
            <a:ext cx="7979944" cy="2677656"/>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                       </a:t>
            </a:r>
          </a:p>
          <a:p>
            <a:endParaRPr lang="en-US"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NALUBOWA BENITAH MARGRET      2023/BIT/169/PS</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ADEKE MARY                                         2023/BIT/034/PS</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MUHUMUZA MUHAMMAD                 2023/BIT/252/PS</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MIREMBE JERMIMAH ARNN               2023/BIT/148/PS</a:t>
            </a:r>
          </a:p>
          <a:p>
            <a:pPr marL="457200" indent="-457200">
              <a:buFont typeface="+mj-lt"/>
              <a:buAutoNum type="arabicPeriod"/>
            </a:pPr>
            <a:r>
              <a:rPr lang="en-US" sz="2400" dirty="0">
                <a:latin typeface="Times New Roman" panose="02020603050405020304" pitchFamily="18" charset="0"/>
                <a:cs typeface="Times New Roman" panose="02020603050405020304" pitchFamily="18" charset="0"/>
              </a:rPr>
              <a:t>KANSIIME PIUS                                      2023/BIT/120/PS</a:t>
            </a:r>
          </a:p>
        </p:txBody>
      </p:sp>
      <p:sp>
        <p:nvSpPr>
          <p:cNvPr id="8" name="TextBox 7">
            <a:extLst>
              <a:ext uri="{FF2B5EF4-FFF2-40B4-BE49-F238E27FC236}">
                <a16:creationId xmlns:a16="http://schemas.microsoft.com/office/drawing/2014/main" id="{077B6B19-A0E2-A4EC-72CD-5FEFB5C677CB}"/>
              </a:ext>
            </a:extLst>
          </p:cNvPr>
          <p:cNvSpPr txBox="1"/>
          <p:nvPr/>
        </p:nvSpPr>
        <p:spPr>
          <a:xfrm>
            <a:off x="1555909" y="3943036"/>
            <a:ext cx="6228629" cy="492443"/>
          </a:xfrm>
          <a:prstGeom prst="rect">
            <a:avLst/>
          </a:prstGeom>
          <a:noFill/>
        </p:spPr>
        <p:txBody>
          <a:bodyPr wrap="square" rtlCol="0">
            <a:spAutoFit/>
          </a:bodyPr>
          <a:lstStyle/>
          <a:p>
            <a:pPr algn="ctr"/>
            <a:r>
              <a:rPr lang="en-US" sz="2600" dirty="0">
                <a:latin typeface="Times New Roman" panose="02020603050405020304" pitchFamily="18" charset="0"/>
                <a:cs typeface="Times New Roman" panose="02020603050405020304" pitchFamily="18" charset="0"/>
              </a:rPr>
              <a:t>GROUP MEMBERS</a:t>
            </a:r>
            <a:endParaRPr lang="en-UG" sz="260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E06727F1-C482-ECD6-6A2E-7BBB3965A9EE}"/>
              </a:ext>
            </a:extLst>
          </p:cNvPr>
          <p:cNvCxnSpPr>
            <a:cxnSpLocks/>
          </p:cNvCxnSpPr>
          <p:nvPr/>
        </p:nvCxnSpPr>
        <p:spPr>
          <a:xfrm>
            <a:off x="3065928" y="4381689"/>
            <a:ext cx="53250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5A00CC33-58A7-EBC0-C14D-DAAA493F55D6}"/>
              </a:ext>
            </a:extLst>
          </p:cNvPr>
          <p:cNvSpPr>
            <a:spLocks noGrp="1"/>
          </p:cNvSpPr>
          <p:nvPr>
            <p:ph type="sldNum" sz="quarter" idx="12"/>
          </p:nvPr>
        </p:nvSpPr>
        <p:spPr/>
        <p:txBody>
          <a:bodyPr/>
          <a:lstStyle/>
          <a:p>
            <a:fld id="{59198F8E-9E1E-4209-934C-4DCBBC18FC64}" type="slidenum">
              <a:rPr lang="en-US" smtClean="0"/>
              <a:t>1</a:t>
            </a:fld>
            <a:endParaRPr lang="en-US"/>
          </a:p>
        </p:txBody>
      </p:sp>
    </p:spTree>
    <p:extLst>
      <p:ext uri="{BB962C8B-B14F-4D97-AF65-F5344CB8AC3E}">
        <p14:creationId xmlns:p14="http://schemas.microsoft.com/office/powerpoint/2010/main" val="11828293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2DA22BA-AFB5-2522-66D2-D0192C92262E}"/>
              </a:ext>
            </a:extLst>
          </p:cNvPr>
          <p:cNvPicPr>
            <a:picLocks noChangeAspect="1"/>
          </p:cNvPicPr>
          <p:nvPr/>
        </p:nvPicPr>
        <p:blipFill>
          <a:blip r:embed="rId2"/>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6927ACFE-38DB-9399-C864-DF72B1273CD4}"/>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Background</a:t>
            </a:r>
            <a:endParaRPr lang="en-U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F71F2B6-2393-4226-1FBF-2C6CB945FAD1}"/>
              </a:ext>
            </a:extLst>
          </p:cNvPr>
          <p:cNvSpPr>
            <a:spLocks noGrp="1"/>
          </p:cNvSpPr>
          <p:nvPr>
            <p:ph idx="1"/>
          </p:nvPr>
        </p:nvSpPr>
        <p:spPr>
          <a:xfrm>
            <a:off x="838200" y="2141537"/>
            <a:ext cx="7212496" cy="4351338"/>
          </a:xfrm>
        </p:spPr>
        <p:txBody>
          <a:bodyPr>
            <a:normAutofit lnSpcReduction="10000"/>
          </a:bodyPr>
          <a:lstStyle/>
          <a:p>
            <a:r>
              <a:rPr lang="en-US" sz="2400" dirty="0">
                <a:latin typeface="Times New Roman" panose="02020603050405020304" pitchFamily="18" charset="0"/>
                <a:cs typeface="Times New Roman" panose="02020603050405020304" pitchFamily="18" charset="0"/>
              </a:rPr>
              <a:t>Over </a:t>
            </a:r>
            <a:r>
              <a:rPr lang="en-US" sz="2400" b="1" dirty="0">
                <a:latin typeface="Times New Roman" panose="02020603050405020304" pitchFamily="18" charset="0"/>
                <a:cs typeface="Times New Roman" panose="02020603050405020304" pitchFamily="18" charset="0"/>
              </a:rPr>
              <a:t>1.5 billion</a:t>
            </a:r>
            <a:r>
              <a:rPr lang="en-US" sz="2400" dirty="0">
                <a:latin typeface="Times New Roman" panose="02020603050405020304" pitchFamily="18" charset="0"/>
                <a:cs typeface="Times New Roman" panose="02020603050405020304" pitchFamily="18" charset="0"/>
              </a:rPr>
              <a:t> people worldwide live with hearing loss, and about </a:t>
            </a:r>
            <a:r>
              <a:rPr lang="en-US" sz="2400" b="1" dirty="0">
                <a:latin typeface="Times New Roman" panose="02020603050405020304" pitchFamily="18" charset="0"/>
                <a:cs typeface="Times New Roman" panose="02020603050405020304" pitchFamily="18" charset="0"/>
              </a:rPr>
              <a:t>43 million</a:t>
            </a:r>
            <a:r>
              <a:rPr lang="en-US" sz="2400" dirty="0">
                <a:latin typeface="Times New Roman" panose="02020603050405020304" pitchFamily="18" charset="0"/>
                <a:cs typeface="Times New Roman" panose="02020603050405020304" pitchFamily="18" charset="0"/>
              </a:rPr>
              <a:t> are blind (WHO, 2024).</a:t>
            </a:r>
          </a:p>
          <a:p>
            <a:r>
              <a:rPr lang="en-US" sz="2400" dirty="0">
                <a:latin typeface="Times New Roman" panose="02020603050405020304" pitchFamily="18" charset="0"/>
                <a:cs typeface="Times New Roman" panose="02020603050405020304" pitchFamily="18" charset="0"/>
              </a:rPr>
              <a:t>In </a:t>
            </a:r>
            <a:r>
              <a:rPr lang="en-US" sz="2400" b="1" dirty="0">
                <a:latin typeface="Times New Roman" panose="02020603050405020304" pitchFamily="18" charset="0"/>
                <a:cs typeface="Times New Roman" panose="02020603050405020304" pitchFamily="18" charset="0"/>
              </a:rPr>
              <a:t>Uganda</a:t>
            </a:r>
            <a:r>
              <a:rPr lang="en-US" sz="2400" dirty="0">
                <a:latin typeface="Times New Roman" panose="02020603050405020304" pitchFamily="18" charset="0"/>
                <a:cs typeface="Times New Roman" panose="02020603050405020304" pitchFamily="18" charset="0"/>
              </a:rPr>
              <a:t>, around </a:t>
            </a:r>
            <a:r>
              <a:rPr lang="en-US" sz="2400" b="1" dirty="0">
                <a:latin typeface="Times New Roman" panose="02020603050405020304" pitchFamily="18" charset="0"/>
                <a:cs typeface="Times New Roman" panose="02020603050405020304" pitchFamily="18" charset="0"/>
              </a:rPr>
              <a:t>12%</a:t>
            </a:r>
            <a:r>
              <a:rPr lang="en-US" sz="2400" dirty="0">
                <a:latin typeface="Times New Roman" panose="02020603050405020304" pitchFamily="18" charset="0"/>
                <a:cs typeface="Times New Roman" panose="02020603050405020304" pitchFamily="18" charset="0"/>
              </a:rPr>
              <a:t> of the population has a disability, yet </a:t>
            </a:r>
            <a:r>
              <a:rPr lang="en-US" sz="2400" b="1" dirty="0">
                <a:latin typeface="Times New Roman" panose="02020603050405020304" pitchFamily="18" charset="0"/>
                <a:cs typeface="Times New Roman" panose="02020603050405020304" pitchFamily="18" charset="0"/>
              </a:rPr>
              <a:t>less than 5%</a:t>
            </a:r>
            <a:r>
              <a:rPr lang="en-US" sz="2400" dirty="0">
                <a:latin typeface="Times New Roman" panose="02020603050405020304" pitchFamily="18" charset="0"/>
                <a:cs typeface="Times New Roman" panose="02020603050405020304" pitchFamily="18" charset="0"/>
              </a:rPr>
              <a:t> use assistive devices (UBOS, 2023).</a:t>
            </a:r>
          </a:p>
          <a:p>
            <a:r>
              <a:rPr lang="en-US" sz="2400" dirty="0">
                <a:latin typeface="Times New Roman" panose="02020603050405020304" pitchFamily="18" charset="0"/>
                <a:cs typeface="Times New Roman" panose="02020603050405020304" pitchFamily="18" charset="0"/>
              </a:rPr>
              <a:t>Most existing devices address </a:t>
            </a:r>
            <a:r>
              <a:rPr lang="en-US" sz="2400" b="1" dirty="0">
                <a:latin typeface="Times New Roman" panose="02020603050405020304" pitchFamily="18" charset="0"/>
                <a:cs typeface="Times New Roman" panose="02020603050405020304" pitchFamily="18" charset="0"/>
              </a:rPr>
              <a:t>only one disability</a:t>
            </a:r>
            <a:r>
              <a:rPr lang="en-US" sz="2400" dirty="0">
                <a:latin typeface="Times New Roman" panose="02020603050405020304" pitchFamily="18" charset="0"/>
                <a:cs typeface="Times New Roman" panose="02020603050405020304" pitchFamily="18" charset="0"/>
              </a:rPr>
              <a:t>  either hearing or sight.</a:t>
            </a:r>
          </a:p>
          <a:p>
            <a:r>
              <a:rPr lang="en-US" sz="2400" b="1" dirty="0">
                <a:latin typeface="Times New Roman" panose="02020603050405020304" pitchFamily="18" charset="0"/>
                <a:cs typeface="Times New Roman" panose="02020603050405020304" pitchFamily="18" charset="0"/>
              </a:rPr>
              <a:t>High costs</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limited access</a:t>
            </a:r>
            <a:r>
              <a:rPr lang="en-US" sz="2400" dirty="0">
                <a:latin typeface="Times New Roman" panose="02020603050405020304" pitchFamily="18" charset="0"/>
                <a:cs typeface="Times New Roman" panose="02020603050405020304" pitchFamily="18" charset="0"/>
              </a:rPr>
              <a:t>, and </a:t>
            </a:r>
            <a:r>
              <a:rPr lang="en-US" sz="2400" b="1" dirty="0">
                <a:latin typeface="Times New Roman" panose="02020603050405020304" pitchFamily="18" charset="0"/>
                <a:cs typeface="Times New Roman" panose="02020603050405020304" pitchFamily="18" charset="0"/>
              </a:rPr>
              <a:t>internet dependency</a:t>
            </a:r>
            <a:r>
              <a:rPr lang="en-US" sz="2400" dirty="0">
                <a:latin typeface="Times New Roman" panose="02020603050405020304" pitchFamily="18" charset="0"/>
                <a:cs typeface="Times New Roman" panose="02020603050405020304" pitchFamily="18" charset="0"/>
              </a:rPr>
              <a:t> restrict usability in low-resource settings.</a:t>
            </a:r>
          </a:p>
          <a:p>
            <a:r>
              <a:rPr lang="en-US" sz="2400" dirty="0">
                <a:latin typeface="Times New Roman" panose="02020603050405020304" pitchFamily="18" charset="0"/>
                <a:cs typeface="Times New Roman" panose="02020603050405020304" pitchFamily="18" charset="0"/>
              </a:rPr>
              <a:t>There’s an urgent need for </a:t>
            </a:r>
            <a:r>
              <a:rPr lang="en-US" sz="2400" b="1" dirty="0">
                <a:latin typeface="Times New Roman" panose="02020603050405020304" pitchFamily="18" charset="0"/>
                <a:cs typeface="Times New Roman" panose="02020603050405020304" pitchFamily="18" charset="0"/>
              </a:rPr>
              <a:t>affordable, offline, dual-assistive technology</a:t>
            </a:r>
            <a:r>
              <a:rPr lang="en-US" sz="2400" dirty="0">
                <a:latin typeface="Times New Roman" panose="02020603050405020304" pitchFamily="18" charset="0"/>
                <a:cs typeface="Times New Roman" panose="02020603050405020304" pitchFamily="18" charset="0"/>
              </a:rPr>
              <a:t> to enhance independence and inclusion.</a:t>
            </a:r>
          </a:p>
          <a:p>
            <a:endParaRPr lang="en-UG"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82F43EF-7749-43AB-E2EA-E91FD7218E5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34000" y1="41333" x2="34000" y2="41333"/>
                        <a14:foregroundMark x1="34267" y1="50133" x2="34267" y2="50133"/>
                        <a14:foregroundMark x1="39867" y1="48267" x2="39867" y2="48267"/>
                        <a14:foregroundMark x1="33333" y1="50533" x2="33333" y2="50533"/>
                        <a14:foregroundMark x1="34400" y1="57867" x2="34400" y2="57867"/>
                        <a14:foregroundMark x1="32267" y1="61867" x2="32267" y2="61867"/>
                        <a14:foregroundMark x1="30800" y1="59067" x2="30800" y2="59067"/>
                        <a14:foregroundMark x1="30800" y1="64533" x2="30800" y2="64533"/>
                        <a14:foregroundMark x1="35067" y1="65600" x2="35067" y2="65600"/>
                        <a14:foregroundMark x1="40667" y1="55333" x2="40667" y2="55333"/>
                        <a14:foregroundMark x1="43600" y1="49733" x2="43600" y2="49733"/>
                        <a14:foregroundMark x1="42133" y1="51067" x2="42133" y2="51067"/>
                        <a14:foregroundMark x1="42267" y1="36267" x2="42267" y2="36267"/>
                        <a14:foregroundMark x1="33333" y1="35200" x2="33333" y2="35200"/>
                        <a14:foregroundMark x1="27867" y1="39600" x2="27867" y2="39600"/>
                        <a14:foregroundMark x1="26933" y1="46533" x2="26933" y2="46533"/>
                        <a14:foregroundMark x1="26267" y1="50000" x2="26267" y2="50000"/>
                        <a14:foregroundMark x1="17467" y1="53200" x2="17467" y2="53200"/>
                        <a14:foregroundMark x1="21733" y1="47333" x2="21733" y2="47333"/>
                        <a14:foregroundMark x1="20933" y1="49467" x2="20933" y2="49467"/>
                        <a14:foregroundMark x1="15733" y1="48400" x2="15733" y2="48400"/>
                        <a14:foregroundMark x1="10533" y1="47867" x2="10533" y2="47867"/>
                        <a14:foregroundMark x1="10533" y1="43467" x2="10533" y2="43467"/>
                        <a14:foregroundMark x1="10400" y1="40000" x2="10400" y2="40000"/>
                        <a14:foregroundMark x1="49333" y1="47600" x2="49333" y2="47600"/>
                        <a14:foregroundMark x1="50667" y1="53333" x2="50667" y2="53333"/>
                        <a14:foregroundMark x1="51467" y1="49467" x2="51467" y2="49467"/>
                        <a14:foregroundMark x1="55733" y1="56000" x2="55733" y2="56000"/>
                        <a14:foregroundMark x1="55867" y1="45333" x2="55867" y2="45333"/>
                        <a14:foregroundMark x1="55467" y1="38933" x2="55467" y2="38933"/>
                        <a14:foregroundMark x1="62667" y1="39733" x2="62667" y2="39733"/>
                        <a14:foregroundMark x1="61600" y1="36800" x2="61600" y2="36800"/>
                        <a14:foregroundMark x1="64933" y1="50933" x2="64933" y2="50933"/>
                        <a14:foregroundMark x1="64533" y1="60267" x2="64533" y2="60267"/>
                        <a14:foregroundMark x1="65600" y1="56267" x2="65600" y2="56267"/>
                        <a14:foregroundMark x1="71200" y1="51867" x2="71200" y2="51867"/>
                        <a14:foregroundMark x1="74533" y1="47733" x2="74533" y2="47733"/>
                        <a14:foregroundMark x1="68400" y1="43600" x2="68400" y2="43600"/>
                        <a14:foregroundMark x1="66800" y1="38933" x2="66800" y2="38933"/>
                        <a14:foregroundMark x1="80400" y1="49600" x2="80400" y2="49600"/>
                        <a14:foregroundMark x1="80000" y1="54667" x2="80000" y2="54667"/>
                        <a14:foregroundMark x1="81600" y1="57067" x2="81600" y2="57067"/>
                        <a14:foregroundMark x1="88667" y1="50133" x2="88667" y2="50133"/>
                        <a14:foregroundMark x1="86267" y1="56400" x2="86267" y2="56400"/>
                        <a14:foregroundMark x1="87733" y1="39867" x2="87733" y2="39867"/>
                      </a14:backgroundRemoval>
                    </a14:imgEffect>
                  </a14:imgLayer>
                </a14:imgProps>
              </a:ext>
            </a:extLst>
          </a:blip>
          <a:stretch>
            <a:fillRect/>
          </a:stretch>
        </p:blipFill>
        <p:spPr>
          <a:xfrm>
            <a:off x="7775714" y="292238"/>
            <a:ext cx="4144617" cy="4144617"/>
          </a:xfrm>
          <a:prstGeom prst="rect">
            <a:avLst/>
          </a:prstGeom>
        </p:spPr>
      </p:pic>
      <p:pic>
        <p:nvPicPr>
          <p:cNvPr id="2050" name="Picture 2" descr="This contains: Shows a silhouette of a businessman in a suit with a blind cane and briefcase, walking (to work).">
            <a:extLst>
              <a:ext uri="{FF2B5EF4-FFF2-40B4-BE49-F238E27FC236}">
                <a16:creationId xmlns:a16="http://schemas.microsoft.com/office/drawing/2014/main" id="{7015DBC5-4E63-9B80-DB86-970EA900C9AE}"/>
              </a:ext>
            </a:extLst>
          </p:cNvPr>
          <p:cNvPicPr>
            <a:picLocks noChangeAspect="1" noChangeArrowheads="1"/>
          </p:cNvPicPr>
          <p:nvPr/>
        </p:nvPicPr>
        <p:blipFill>
          <a:blip r:embed="rId5" cstate="print">
            <a:extLst>
              <a:ext uri="{BEBA8EAE-BF5A-486C-A8C5-ECC9F3942E4B}">
                <a14:imgProps xmlns:a14="http://schemas.microsoft.com/office/drawing/2010/main">
                  <a14:imgLayer r:embed="rId6">
                    <a14:imgEffect>
                      <a14:backgroundRemoval t="2518" b="96763" l="9783" r="91033">
                        <a14:foregroundMark x1="49728" y1="5845" x2="49728" y2="5845"/>
                        <a14:foregroundMark x1="36685" y1="92446" x2="36685" y2="92446"/>
                        <a14:foregroundMark x1="91304" y1="84353" x2="91304" y2="84353"/>
                        <a14:foregroundMark x1="25951" y1="96763" x2="25951" y2="96763"/>
                        <a14:foregroundMark x1="48234" y1="2518" x2="48234" y2="2518"/>
                      </a14:backgroundRemoval>
                    </a14:imgEffect>
                  </a14:imgLayer>
                </a14:imgProps>
              </a:ext>
              <a:ext uri="{28A0092B-C50C-407E-A947-70E740481C1C}">
                <a14:useLocalDpi xmlns:a14="http://schemas.microsoft.com/office/drawing/2010/main" val="0"/>
              </a:ext>
            </a:extLst>
          </a:blip>
          <a:srcRect/>
          <a:stretch>
            <a:fillRect/>
          </a:stretch>
        </p:blipFill>
        <p:spPr bwMode="auto">
          <a:xfrm>
            <a:off x="9728752" y="3110536"/>
            <a:ext cx="2286688" cy="3455226"/>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9" name="Picture 2" descr="This may contain: the letter s is made up of two intersecting lines, and it appears to be black">
            <a:extLst>
              <a:ext uri="{FF2B5EF4-FFF2-40B4-BE49-F238E27FC236}">
                <a16:creationId xmlns:a16="http://schemas.microsoft.com/office/drawing/2014/main" id="{37E5934F-DD57-23D4-6A47-F764AFB87B5D}"/>
              </a:ext>
            </a:extLst>
          </p:cNvPr>
          <p:cNvPicPr>
            <a:picLocks noChangeAspect="1" noChangeArrowheads="1"/>
          </p:cNvPicPr>
          <p:nvPr/>
        </p:nvPicPr>
        <p:blipFill>
          <a:blip r:embed="rId7" cstate="print">
            <a:extLst>
              <a:ext uri="{BEBA8EAE-BF5A-486C-A8C5-ECC9F3942E4B}">
                <a14:imgProps xmlns:a14="http://schemas.microsoft.com/office/drawing/2010/main">
                  <a14:imgLayer r:embed="rId8">
                    <a14:imgEffect>
                      <a14:backgroundRemoval t="10000" b="90000" l="10000" r="90000">
                        <a14:foregroundMark x1="35623" y1="60383" x2="35623" y2="60383"/>
                        <a14:foregroundMark x1="60703" y1="41054" x2="60703" y2="41054"/>
                      </a14:backgroundRemoval>
                    </a14:imgEffect>
                  </a14:imgLayer>
                </a14:imgProps>
              </a:ext>
              <a:ext uri="{28A0092B-C50C-407E-A947-70E740481C1C}">
                <a14:useLocalDpi xmlns:a14="http://schemas.microsoft.com/office/drawing/2010/main" val="0"/>
              </a:ext>
            </a:extLst>
          </a:blip>
          <a:srcRect/>
          <a:stretch>
            <a:fillRect/>
          </a:stretch>
        </p:blipFill>
        <p:spPr bwMode="auto">
          <a:xfrm>
            <a:off x="-163912" y="-133245"/>
            <a:ext cx="1675986" cy="1675986"/>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64D1C7DC-FB9C-CE33-2FE3-37C809463771}"/>
              </a:ext>
            </a:extLst>
          </p:cNvPr>
          <p:cNvCxnSpPr>
            <a:cxnSpLocks/>
          </p:cNvCxnSpPr>
          <p:nvPr/>
        </p:nvCxnSpPr>
        <p:spPr>
          <a:xfrm>
            <a:off x="3588026" y="1431235"/>
            <a:ext cx="86039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CEF97A2D-876B-04A0-54D1-2D8451EEBF5E}"/>
              </a:ext>
            </a:extLst>
          </p:cNvPr>
          <p:cNvSpPr>
            <a:spLocks noGrp="1"/>
          </p:cNvSpPr>
          <p:nvPr>
            <p:ph type="sldNum" sz="quarter" idx="12"/>
          </p:nvPr>
        </p:nvSpPr>
        <p:spPr/>
        <p:txBody>
          <a:bodyPr/>
          <a:lstStyle/>
          <a:p>
            <a:fld id="{59198F8E-9E1E-4209-934C-4DCBBC18FC64}" type="slidenum">
              <a:rPr lang="en-US" smtClean="0"/>
              <a:t>2</a:t>
            </a:fld>
            <a:endParaRPr lang="en-US"/>
          </a:p>
        </p:txBody>
      </p:sp>
    </p:spTree>
    <p:extLst>
      <p:ext uri="{BB962C8B-B14F-4D97-AF65-F5344CB8AC3E}">
        <p14:creationId xmlns:p14="http://schemas.microsoft.com/office/powerpoint/2010/main" val="16903007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82DDCFFB-A37B-DE54-DDB4-B515378874E5}"/>
              </a:ext>
            </a:extLst>
          </p:cNvPr>
          <p:cNvPicPr>
            <a:picLocks noChangeAspect="1"/>
          </p:cNvPicPr>
          <p:nvPr/>
        </p:nvPicPr>
        <p:blipFill>
          <a:blip r:embed="rId2"/>
          <a:stretch>
            <a:fillRect/>
          </a:stretch>
        </p:blipFill>
        <p:spPr>
          <a:xfrm>
            <a:off x="0" y="0"/>
            <a:ext cx="12192000" cy="6857999"/>
          </a:xfrm>
          <a:prstGeom prst="rect">
            <a:avLst/>
          </a:prstGeom>
        </p:spPr>
      </p:pic>
      <p:sp>
        <p:nvSpPr>
          <p:cNvPr id="2" name="Title 1"/>
          <p:cNvSpPr>
            <a:spLocks noGrp="1"/>
          </p:cNvSpPr>
          <p:nvPr>
            <p:ph type="title"/>
          </p:nvPr>
        </p:nvSpPr>
        <p:spPr>
          <a:xfrm>
            <a:off x="888558" y="579501"/>
            <a:ext cx="10058400" cy="1129821"/>
          </a:xfrm>
        </p:spPr>
        <p:txBody>
          <a:bodyPr/>
          <a:lstStyle/>
          <a:p>
            <a:pPr algn="ctr"/>
            <a:r>
              <a:rPr lang="en-US" dirty="0">
                <a:latin typeface="Times New Roman" panose="02020603050405020304" pitchFamily="18" charset="0"/>
                <a:cs typeface="Times New Roman" panose="02020603050405020304" pitchFamily="18" charset="0"/>
              </a:rPr>
              <a:t>The Problem Statement</a:t>
            </a:r>
          </a:p>
        </p:txBody>
      </p:sp>
      <p:sp>
        <p:nvSpPr>
          <p:cNvPr id="3" name="Content Placeholder 2"/>
          <p:cNvSpPr>
            <a:spLocks noGrp="1"/>
          </p:cNvSpPr>
          <p:nvPr>
            <p:ph idx="1"/>
          </p:nvPr>
        </p:nvSpPr>
        <p:spPr>
          <a:xfrm>
            <a:off x="424930" y="1971703"/>
            <a:ext cx="7526767" cy="4599694"/>
          </a:xfrm>
        </p:spPr>
        <p:txBody>
          <a:bodyPr>
            <a:noAutofit/>
          </a:bodyPr>
          <a:lstStyle/>
          <a:p>
            <a:r>
              <a:rPr lang="en-US" sz="2000" dirty="0">
                <a:latin typeface="Times New Roman" panose="02020603050405020304" pitchFamily="18" charset="0"/>
                <a:cs typeface="Times New Roman" panose="02020603050405020304" pitchFamily="18" charset="0"/>
              </a:rPr>
              <a:t>Assistive devices designed for the deaf and the blind are often expensive, require technical expertise and are not designed for our GPS context, making them inaccessible to over 95% of potential users in low-resource settings.</a:t>
            </a:r>
          </a:p>
          <a:p>
            <a:r>
              <a:rPr lang="en-US" sz="2000" dirty="0">
                <a:latin typeface="Times New Roman" panose="02020603050405020304" pitchFamily="18" charset="0"/>
                <a:cs typeface="Times New Roman" panose="02020603050405020304" pitchFamily="18" charset="0"/>
              </a:rPr>
              <a:t>This exclusion limits deaf and visually impaired individuals in Uganda and worldwide from actively participating in activities like education, employment and if better interventions aren’t introduced, this problem will continue to exist.</a:t>
            </a:r>
          </a:p>
          <a:p>
            <a:r>
              <a:rPr lang="en-US" sz="2000" dirty="0">
                <a:latin typeface="Times New Roman" panose="02020603050405020304" pitchFamily="18" charset="0"/>
                <a:cs typeface="Times New Roman" panose="02020603050405020304" pitchFamily="18" charset="0"/>
              </a:rPr>
              <a:t>According to </a:t>
            </a:r>
            <a:r>
              <a:rPr lang="en-US" sz="2000" b="1" dirty="0">
                <a:latin typeface="Times New Roman" panose="02020603050405020304" pitchFamily="18" charset="0"/>
                <a:cs typeface="Times New Roman" panose="02020603050405020304" pitchFamily="18" charset="0"/>
              </a:rPr>
              <a:t>UBOS(2023)</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WHO(2024)</a:t>
            </a:r>
            <a:r>
              <a:rPr lang="en-US" sz="2000" dirty="0">
                <a:latin typeface="Times New Roman" panose="02020603050405020304" pitchFamily="18" charset="0"/>
                <a:cs typeface="Times New Roman" panose="02020603050405020304" pitchFamily="18" charset="0"/>
              </a:rPr>
              <a:t>, fewer than 5% of people with visual and hearing impairments have access to assistive tools due to high costs and limited technological suitability.</a:t>
            </a:r>
          </a:p>
          <a:p>
            <a:r>
              <a:rPr lang="en-US" sz="2000" dirty="0">
                <a:latin typeface="Times New Roman" panose="02020603050405020304" pitchFamily="18" charset="0"/>
                <a:cs typeface="Times New Roman" panose="02020603050405020304" pitchFamily="18" charset="0"/>
              </a:rPr>
              <a:t>In line with </a:t>
            </a:r>
            <a:r>
              <a:rPr lang="en-US" sz="2000" b="1" dirty="0">
                <a:latin typeface="Times New Roman" panose="02020603050405020304" pitchFamily="18" charset="0"/>
                <a:cs typeface="Times New Roman" panose="02020603050405020304" pitchFamily="18" charset="0"/>
              </a:rPr>
              <a:t>Uganda’s Vision 2040 </a:t>
            </a:r>
            <a:r>
              <a:rPr lang="en-US" sz="2000" dirty="0">
                <a:latin typeface="Times New Roman" panose="02020603050405020304" pitchFamily="18" charset="0"/>
                <a:cs typeface="Times New Roman" panose="02020603050405020304" pitchFamily="18" charset="0"/>
              </a:rPr>
              <a:t>and </a:t>
            </a:r>
            <a:r>
              <a:rPr lang="en-US" sz="2000" b="1" dirty="0">
                <a:latin typeface="Times New Roman" panose="02020603050405020304" pitchFamily="18" charset="0"/>
                <a:cs typeface="Times New Roman" panose="02020603050405020304" pitchFamily="18" charset="0"/>
              </a:rPr>
              <a:t>NDP III</a:t>
            </a:r>
            <a:r>
              <a:rPr lang="en-US" sz="2000" dirty="0">
                <a:latin typeface="Times New Roman" panose="02020603050405020304" pitchFamily="18" charset="0"/>
                <a:cs typeface="Times New Roman" panose="02020603050405020304" pitchFamily="18" charset="0"/>
              </a:rPr>
              <a:t>, this project aims to bridge the assistive technology gap while supporting </a:t>
            </a:r>
            <a:r>
              <a:rPr lang="en-US" sz="2000" b="1" dirty="0">
                <a:latin typeface="Times New Roman" panose="02020603050405020304" pitchFamily="18" charset="0"/>
                <a:cs typeface="Times New Roman" panose="02020603050405020304" pitchFamily="18" charset="0"/>
              </a:rPr>
              <a:t>SDG 3</a:t>
            </a:r>
            <a:r>
              <a:rPr lang="en-US" sz="2000" dirty="0">
                <a:latin typeface="Times New Roman" panose="02020603050405020304" pitchFamily="18" charset="0"/>
                <a:cs typeface="Times New Roman" panose="02020603050405020304" pitchFamily="18" charset="0"/>
              </a:rPr>
              <a:t> (Good Health &amp; Well-being), </a:t>
            </a:r>
            <a:r>
              <a:rPr lang="en-US" sz="2000" b="1" dirty="0">
                <a:latin typeface="Times New Roman" panose="02020603050405020304" pitchFamily="18" charset="0"/>
                <a:cs typeface="Times New Roman" panose="02020603050405020304" pitchFamily="18" charset="0"/>
              </a:rPr>
              <a:t>SDG 8</a:t>
            </a:r>
            <a:r>
              <a:rPr lang="en-US" sz="2000" dirty="0">
                <a:latin typeface="Times New Roman" panose="02020603050405020304" pitchFamily="18" charset="0"/>
                <a:cs typeface="Times New Roman" panose="02020603050405020304" pitchFamily="18" charset="0"/>
              </a:rPr>
              <a:t> (Decent Work &amp; Economic Growth), and </a:t>
            </a:r>
            <a:r>
              <a:rPr lang="en-US" sz="2000" b="1" dirty="0">
                <a:latin typeface="Times New Roman" panose="02020603050405020304" pitchFamily="18" charset="0"/>
                <a:cs typeface="Times New Roman" panose="02020603050405020304" pitchFamily="18" charset="0"/>
              </a:rPr>
              <a:t>SDG 10 </a:t>
            </a:r>
            <a:r>
              <a:rPr lang="en-US" sz="2000" dirty="0">
                <a:latin typeface="Times New Roman" panose="02020603050405020304" pitchFamily="18" charset="0"/>
                <a:cs typeface="Times New Roman" panose="02020603050405020304" pitchFamily="18" charset="0"/>
              </a:rPr>
              <a:t>(Reduced Inequalities).</a:t>
            </a:r>
          </a:p>
          <a:p>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pic>
        <p:nvPicPr>
          <p:cNvPr id="3074" name="Picture 2" descr="This may contain: two silhouettes facing each other with one touching the other's ear and another pointing at">
            <a:extLst>
              <a:ext uri="{FF2B5EF4-FFF2-40B4-BE49-F238E27FC236}">
                <a16:creationId xmlns:a16="http://schemas.microsoft.com/office/drawing/2014/main" id="{A537096C-FCDE-7E8A-DD99-116ED07A28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0428" y="1890558"/>
            <a:ext cx="3873313" cy="2241175"/>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99285336-5A69-0577-4863-5BAA20F707A9}"/>
              </a:ext>
            </a:extLst>
          </p:cNvPr>
          <p:cNvCxnSpPr>
            <a:cxnSpLocks/>
          </p:cNvCxnSpPr>
          <p:nvPr/>
        </p:nvCxnSpPr>
        <p:spPr>
          <a:xfrm>
            <a:off x="8050306" y="1502985"/>
            <a:ext cx="0" cy="4775514"/>
          </a:xfrm>
          <a:prstGeom prst="line">
            <a:avLst/>
          </a:prstGeom>
          <a:ln w="57150"/>
        </p:spPr>
        <p:style>
          <a:lnRef idx="2">
            <a:schemeClr val="dk1"/>
          </a:lnRef>
          <a:fillRef idx="0">
            <a:schemeClr val="dk1"/>
          </a:fillRef>
          <a:effectRef idx="1">
            <a:schemeClr val="dk1"/>
          </a:effectRef>
          <a:fontRef idx="minor">
            <a:schemeClr val="tx1"/>
          </a:fontRef>
        </p:style>
      </p:cxnSp>
      <p:pic>
        <p:nvPicPr>
          <p:cNvPr id="6" name="Picture 5">
            <a:extLst>
              <a:ext uri="{FF2B5EF4-FFF2-40B4-BE49-F238E27FC236}">
                <a16:creationId xmlns:a16="http://schemas.microsoft.com/office/drawing/2014/main" id="{9812BAF3-C842-9A75-ACA6-1246A893F1EA}"/>
              </a:ext>
            </a:extLst>
          </p:cNvPr>
          <p:cNvPicPr>
            <a:picLocks noChangeAspect="1"/>
          </p:cNvPicPr>
          <p:nvPr/>
        </p:nvPicPr>
        <p:blipFill>
          <a:blip r:embed="rId4"/>
          <a:stretch>
            <a:fillRect/>
          </a:stretch>
        </p:blipFill>
        <p:spPr>
          <a:xfrm>
            <a:off x="8297765" y="4037324"/>
            <a:ext cx="3469305" cy="2241175"/>
          </a:xfrm>
          <a:prstGeom prst="rect">
            <a:avLst/>
          </a:prstGeom>
        </p:spPr>
      </p:pic>
      <p:pic>
        <p:nvPicPr>
          <p:cNvPr id="7" name="Picture 2" descr="This may contain: the letter s is made up of two intersecting lines, and it appears to be black">
            <a:extLst>
              <a:ext uri="{FF2B5EF4-FFF2-40B4-BE49-F238E27FC236}">
                <a16:creationId xmlns:a16="http://schemas.microsoft.com/office/drawing/2014/main" id="{C733E952-0C20-F9BF-239B-E39FFDE5D6FD}"/>
              </a:ext>
            </a:extLst>
          </p:cNvPr>
          <p:cNvPicPr>
            <a:picLocks noChangeAspect="1" noChangeArrowheads="1"/>
          </p:cNvPicPr>
          <p:nvPr/>
        </p:nvPicPr>
        <p:blipFill>
          <a:blip r:embed="rId5" cstate="print">
            <a:extLst>
              <a:ext uri="{BEBA8EAE-BF5A-486C-A8C5-ECC9F3942E4B}">
                <a14:imgProps xmlns:a14="http://schemas.microsoft.com/office/drawing/2010/main">
                  <a14:imgLayer r:embed="rId6">
                    <a14:imgEffect>
                      <a14:backgroundRemoval t="10000" b="90000" l="10000" r="90000">
                        <a14:foregroundMark x1="35623" y1="60383" x2="35623" y2="60383"/>
                        <a14:foregroundMark x1="60703" y1="41054" x2="60703" y2="41054"/>
                      </a14:backgroundRemoval>
                    </a14:imgEffect>
                  </a14:imgLayer>
                </a14:imgProps>
              </a:ext>
              <a:ext uri="{28A0092B-C50C-407E-A947-70E740481C1C}">
                <a14:useLocalDpi xmlns:a14="http://schemas.microsoft.com/office/drawing/2010/main" val="0"/>
              </a:ext>
            </a:extLst>
          </a:blip>
          <a:srcRect/>
          <a:stretch>
            <a:fillRect/>
          </a:stretch>
        </p:blipFill>
        <p:spPr bwMode="auto">
          <a:xfrm>
            <a:off x="-196174" y="-173001"/>
            <a:ext cx="1675986" cy="1675986"/>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998CDE08-AE71-E70F-E3BA-03671FEB93A2}"/>
              </a:ext>
            </a:extLst>
          </p:cNvPr>
          <p:cNvCxnSpPr>
            <a:cxnSpLocks/>
          </p:cNvCxnSpPr>
          <p:nvPr/>
        </p:nvCxnSpPr>
        <p:spPr>
          <a:xfrm>
            <a:off x="3326296" y="1502985"/>
            <a:ext cx="884787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B9DB1FB3-3505-D72F-2696-D4986481F926}"/>
              </a:ext>
            </a:extLst>
          </p:cNvPr>
          <p:cNvSpPr>
            <a:spLocks noGrp="1"/>
          </p:cNvSpPr>
          <p:nvPr>
            <p:ph type="sldNum" sz="quarter" idx="12"/>
          </p:nvPr>
        </p:nvSpPr>
        <p:spPr/>
        <p:txBody>
          <a:bodyPr/>
          <a:lstStyle/>
          <a:p>
            <a:fld id="{59198F8E-9E1E-4209-934C-4DCBBC18FC64}" type="slidenum">
              <a:rPr lang="en-US" smtClean="0"/>
              <a:t>3</a:t>
            </a:fld>
            <a:endParaRPr lang="en-US"/>
          </a:p>
        </p:txBody>
      </p:sp>
    </p:spTree>
    <p:extLst>
      <p:ext uri="{BB962C8B-B14F-4D97-AF65-F5344CB8AC3E}">
        <p14:creationId xmlns:p14="http://schemas.microsoft.com/office/powerpoint/2010/main" val="97476816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4CA9CDF-7E1C-0892-E77A-15292F23EAA5}"/>
              </a:ext>
            </a:extLst>
          </p:cNvPr>
          <p:cNvPicPr>
            <a:picLocks noChangeAspect="1"/>
          </p:cNvPicPr>
          <p:nvPr/>
        </p:nvPicPr>
        <p:blipFill>
          <a:blip r:embed="rId2"/>
          <a:stretch>
            <a:fillRect/>
          </a:stretch>
        </p:blipFill>
        <p:spPr>
          <a:xfrm>
            <a:off x="0" y="0"/>
            <a:ext cx="12192000" cy="6857999"/>
          </a:xfrm>
          <a:prstGeom prst="rect">
            <a:avLst/>
          </a:prstGeom>
        </p:spPr>
      </p:pic>
      <p:sp>
        <p:nvSpPr>
          <p:cNvPr id="2" name="Title 1"/>
          <p:cNvSpPr>
            <a:spLocks noGrp="1"/>
          </p:cNvSpPr>
          <p:nvPr>
            <p:ph type="title"/>
          </p:nvPr>
        </p:nvSpPr>
        <p:spPr>
          <a:xfrm>
            <a:off x="838200" y="354116"/>
            <a:ext cx="10515600" cy="1325563"/>
          </a:xfrm>
        </p:spPr>
        <p:txBody>
          <a:bodyPr/>
          <a:lstStyle/>
          <a:p>
            <a:pPr algn="ctr"/>
            <a:r>
              <a:rPr lang="en-US" dirty="0">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idx="1"/>
          </p:nvPr>
        </p:nvSpPr>
        <p:spPr>
          <a:xfrm>
            <a:off x="606286" y="2859294"/>
            <a:ext cx="5373757" cy="2478018"/>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            Main Objective:</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To enhance communication and mobility assistance for the deaf and visually impaired.    </a:t>
            </a:r>
          </a:p>
        </p:txBody>
      </p:sp>
      <p:sp>
        <p:nvSpPr>
          <p:cNvPr id="4" name="Content Placeholder 2">
            <a:extLst>
              <a:ext uri="{FF2B5EF4-FFF2-40B4-BE49-F238E27FC236}">
                <a16:creationId xmlns:a16="http://schemas.microsoft.com/office/drawing/2014/main" id="{236070C0-20B9-894E-76CA-0208B4DA7AC8}"/>
              </a:ext>
            </a:extLst>
          </p:cNvPr>
          <p:cNvSpPr txBox="1">
            <a:spLocks/>
          </p:cNvSpPr>
          <p:nvPr/>
        </p:nvSpPr>
        <p:spPr>
          <a:xfrm>
            <a:off x="5980043" y="1673334"/>
            <a:ext cx="5907157" cy="450362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latin typeface="Times New Roman" panose="02020603050405020304" pitchFamily="18" charset="0"/>
                <a:cs typeface="Times New Roman" panose="02020603050405020304" pitchFamily="18" charset="0"/>
              </a:rPr>
              <a:t>          Specific Objectives:</a:t>
            </a:r>
            <a:endParaRPr lang="en-US"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To examine existing systems that enable communication and mobility assistance for deaf and visually impaired.</a:t>
            </a:r>
          </a:p>
          <a:p>
            <a:r>
              <a:rPr lang="en-US" sz="2600" dirty="0">
                <a:latin typeface="Times New Roman" panose="02020603050405020304" pitchFamily="18" charset="0"/>
                <a:cs typeface="Times New Roman" panose="02020603050405020304" pitchFamily="18" charset="0"/>
              </a:rPr>
              <a:t>To design and develop a low-cost wearable system that enables communication and mobility assistance for deaf and visually impaired. </a:t>
            </a:r>
          </a:p>
          <a:p>
            <a:r>
              <a:rPr lang="en-US" sz="2600" dirty="0">
                <a:latin typeface="Times New Roman" panose="02020603050405020304" pitchFamily="18" charset="0"/>
                <a:cs typeface="Times New Roman" panose="02020603050405020304" pitchFamily="18" charset="0"/>
              </a:rPr>
              <a:t>To test and validate the efficiency of the, developed low-cost wearable system that enables communication and mobility assistance for deaf and visually impaired.</a:t>
            </a:r>
          </a:p>
        </p:txBody>
      </p:sp>
      <p:cxnSp>
        <p:nvCxnSpPr>
          <p:cNvPr id="7" name="Straight Connector 6">
            <a:extLst>
              <a:ext uri="{FF2B5EF4-FFF2-40B4-BE49-F238E27FC236}">
                <a16:creationId xmlns:a16="http://schemas.microsoft.com/office/drawing/2014/main" id="{7020A0B2-1F3A-B393-9F13-EC1523EDA8B4}"/>
              </a:ext>
            </a:extLst>
          </p:cNvPr>
          <p:cNvCxnSpPr>
            <a:cxnSpLocks/>
          </p:cNvCxnSpPr>
          <p:nvPr/>
        </p:nvCxnSpPr>
        <p:spPr>
          <a:xfrm>
            <a:off x="5980043" y="1676504"/>
            <a:ext cx="0" cy="383971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5D81C73-CA22-A7A5-A0B9-BF21D2D38177}"/>
              </a:ext>
            </a:extLst>
          </p:cNvPr>
          <p:cNvCxnSpPr>
            <a:cxnSpLocks/>
          </p:cNvCxnSpPr>
          <p:nvPr/>
        </p:nvCxnSpPr>
        <p:spPr>
          <a:xfrm>
            <a:off x="1302026" y="1676504"/>
            <a:ext cx="1088997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2" descr="This may contain: the letter s is made up of two intersecting lines, and it appears to be black">
            <a:extLst>
              <a:ext uri="{FF2B5EF4-FFF2-40B4-BE49-F238E27FC236}">
                <a16:creationId xmlns:a16="http://schemas.microsoft.com/office/drawing/2014/main" id="{D507B04C-0AB3-C663-74A3-192BC5CE3FCE}"/>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backgroundRemoval t="10000" b="90000" l="10000" r="90000">
                        <a14:foregroundMark x1="35623" y1="60383" x2="35623" y2="60383"/>
                        <a14:foregroundMark x1="60703" y1="41054" x2="60703" y2="41054"/>
                      </a14:backgroundRemoval>
                    </a14:imgEffect>
                  </a14:imgLayer>
                </a14:imgProps>
              </a:ext>
              <a:ext uri="{28A0092B-C50C-407E-A947-70E740481C1C}">
                <a14:useLocalDpi xmlns:a14="http://schemas.microsoft.com/office/drawing/2010/main" val="0"/>
              </a:ext>
            </a:extLst>
          </a:blip>
          <a:srcRect/>
          <a:stretch>
            <a:fillRect/>
          </a:stretch>
        </p:blipFill>
        <p:spPr bwMode="auto">
          <a:xfrm>
            <a:off x="-163912" y="-133245"/>
            <a:ext cx="1675986" cy="1675986"/>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03CE7C1C-E3BF-23F1-F970-CC864A3758F7}"/>
              </a:ext>
            </a:extLst>
          </p:cNvPr>
          <p:cNvSpPr>
            <a:spLocks noGrp="1"/>
          </p:cNvSpPr>
          <p:nvPr>
            <p:ph type="sldNum" sz="quarter" idx="12"/>
          </p:nvPr>
        </p:nvSpPr>
        <p:spPr/>
        <p:txBody>
          <a:bodyPr/>
          <a:lstStyle/>
          <a:p>
            <a:fld id="{59198F8E-9E1E-4209-934C-4DCBBC18FC64}" type="slidenum">
              <a:rPr lang="en-US" smtClean="0"/>
              <a:t>4</a:t>
            </a:fld>
            <a:endParaRPr lang="en-US"/>
          </a:p>
        </p:txBody>
      </p:sp>
    </p:spTree>
    <p:extLst>
      <p:ext uri="{BB962C8B-B14F-4D97-AF65-F5344CB8AC3E}">
        <p14:creationId xmlns:p14="http://schemas.microsoft.com/office/powerpoint/2010/main" val="5867296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4FE3A84-70F4-6FB5-9EF8-4E4C4C079762}"/>
              </a:ext>
            </a:extLst>
          </p:cNvPr>
          <p:cNvPicPr>
            <a:picLocks noChangeAspect="1"/>
          </p:cNvPicPr>
          <p:nvPr/>
        </p:nvPicPr>
        <p:blipFill>
          <a:blip r:embed="rId2"/>
          <a:stretch>
            <a:fillRect/>
          </a:stretch>
        </p:blipFill>
        <p:spPr>
          <a:xfrm>
            <a:off x="0" y="0"/>
            <a:ext cx="12192000" cy="6858000"/>
          </a:xfrm>
          <a:prstGeom prst="rect">
            <a:avLst/>
          </a:prstGeom>
        </p:spPr>
      </p:pic>
      <p:sp>
        <p:nvSpPr>
          <p:cNvPr id="2" name="Title 1"/>
          <p:cNvSpPr>
            <a:spLocks noGrp="1"/>
          </p:cNvSpPr>
          <p:nvPr>
            <p:ph type="title"/>
          </p:nvPr>
        </p:nvSpPr>
        <p:spPr>
          <a:xfrm>
            <a:off x="2133600" y="84774"/>
            <a:ext cx="10058400" cy="967162"/>
          </a:xfrm>
        </p:spPr>
        <p:txBody>
          <a:bodyPr/>
          <a:lstStyle/>
          <a:p>
            <a:r>
              <a:rPr lang="en-US" dirty="0">
                <a:latin typeface="Times New Roman" panose="02020603050405020304" pitchFamily="18" charset="0"/>
                <a:cs typeface="Times New Roman" panose="02020603050405020304" pitchFamily="18" charset="0"/>
              </a:rPr>
              <a:t>Literature Review</a:t>
            </a:r>
          </a:p>
        </p:txBody>
      </p:sp>
      <p:graphicFrame>
        <p:nvGraphicFramePr>
          <p:cNvPr id="5" name="Content Placeholder 4"/>
          <p:cNvGraphicFramePr>
            <a:graphicFrameLocks noGrp="1"/>
          </p:cNvGraphicFramePr>
          <p:nvPr>
            <p:ph idx="1"/>
          </p:nvPr>
        </p:nvGraphicFramePr>
        <p:xfrm>
          <a:off x="477078" y="1051936"/>
          <a:ext cx="11264348" cy="5547647"/>
        </p:xfrm>
        <a:graphic>
          <a:graphicData uri="http://schemas.openxmlformats.org/drawingml/2006/table">
            <a:tbl>
              <a:tblPr firstRow="1" bandRow="1">
                <a:tableStyleId>{5C22544A-7EE6-4342-B048-85BDC9FD1C3A}</a:tableStyleId>
              </a:tblPr>
              <a:tblGrid>
                <a:gridCol w="1764126">
                  <a:extLst>
                    <a:ext uri="{9D8B030D-6E8A-4147-A177-3AD203B41FA5}">
                      <a16:colId xmlns:a16="http://schemas.microsoft.com/office/drawing/2014/main" val="2961735745"/>
                    </a:ext>
                  </a:extLst>
                </a:gridCol>
                <a:gridCol w="2303606">
                  <a:extLst>
                    <a:ext uri="{9D8B030D-6E8A-4147-A177-3AD203B41FA5}">
                      <a16:colId xmlns:a16="http://schemas.microsoft.com/office/drawing/2014/main" val="3883158658"/>
                    </a:ext>
                  </a:extLst>
                </a:gridCol>
                <a:gridCol w="2389722">
                  <a:extLst>
                    <a:ext uri="{9D8B030D-6E8A-4147-A177-3AD203B41FA5}">
                      <a16:colId xmlns:a16="http://schemas.microsoft.com/office/drawing/2014/main" val="95341660"/>
                    </a:ext>
                  </a:extLst>
                </a:gridCol>
                <a:gridCol w="2213839">
                  <a:extLst>
                    <a:ext uri="{9D8B030D-6E8A-4147-A177-3AD203B41FA5}">
                      <a16:colId xmlns:a16="http://schemas.microsoft.com/office/drawing/2014/main" val="2156888209"/>
                    </a:ext>
                  </a:extLst>
                </a:gridCol>
                <a:gridCol w="2593055">
                  <a:extLst>
                    <a:ext uri="{9D8B030D-6E8A-4147-A177-3AD203B41FA5}">
                      <a16:colId xmlns:a16="http://schemas.microsoft.com/office/drawing/2014/main" val="57267594"/>
                    </a:ext>
                  </a:extLst>
                </a:gridCol>
              </a:tblGrid>
              <a:tr h="780094">
                <a:tc>
                  <a:txBody>
                    <a:bodyPr/>
                    <a:lstStyle/>
                    <a:p>
                      <a:r>
                        <a:rPr lang="en-US" sz="1400" dirty="0">
                          <a:solidFill>
                            <a:schemeClr val="tx1"/>
                          </a:solidFill>
                          <a:latin typeface="Times New Roman" panose="02020603050405020304" pitchFamily="18" charset="0"/>
                          <a:cs typeface="Times New Roman" panose="02020603050405020304" pitchFamily="18" charset="0"/>
                        </a:rPr>
                        <a:t>AUTHORS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solidFill>
                            <a:schemeClr val="tx1"/>
                          </a:solidFill>
                          <a:latin typeface="Times New Roman" panose="02020603050405020304" pitchFamily="18" charset="0"/>
                          <a:cs typeface="Times New Roman" panose="02020603050405020304" pitchFamily="18" charset="0"/>
                        </a:rPr>
                        <a:t>STUDY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solidFill>
                            <a:schemeClr val="tx1"/>
                          </a:solidFill>
                          <a:latin typeface="Times New Roman" panose="02020603050405020304" pitchFamily="18" charset="0"/>
                          <a:cs typeface="Times New Roman" panose="02020603050405020304" pitchFamily="18" charset="0"/>
                        </a:rPr>
                        <a:t>STRENGTH OF THE STUDY </a:t>
                      </a:r>
                      <a:endParaRPr 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solidFill>
                            <a:schemeClr val="tx1"/>
                          </a:solidFill>
                          <a:latin typeface="Times New Roman" panose="02020603050405020304" pitchFamily="18" charset="0"/>
                          <a:cs typeface="Times New Roman" panose="02020603050405020304" pitchFamily="18" charset="0"/>
                        </a:rPr>
                        <a:t>GAPS</a:t>
                      </a:r>
                      <a:endParaRPr 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solidFill>
                            <a:schemeClr val="tx1"/>
                          </a:solidFill>
                          <a:latin typeface="Times New Roman" panose="02020603050405020304" pitchFamily="18" charset="0"/>
                          <a:cs typeface="Times New Roman" panose="02020603050405020304" pitchFamily="18" charset="0"/>
                        </a:rPr>
                        <a:t>HOW OUR RESEARCH IS INTENDING TO BRIDGE</a:t>
                      </a:r>
                      <a:r>
                        <a:rPr lang="en-US" sz="1400" baseline="0">
                          <a:solidFill>
                            <a:schemeClr val="tx1"/>
                          </a:solidFill>
                          <a:latin typeface="Times New Roman" panose="02020603050405020304" pitchFamily="18" charset="0"/>
                          <a:cs typeface="Times New Roman" panose="02020603050405020304" pitchFamily="18" charset="0"/>
                        </a:rPr>
                        <a:t> THE GAPS</a:t>
                      </a:r>
                      <a:endParaRPr lang="en-US" sz="1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1420204"/>
                  </a:ext>
                </a:extLst>
              </a:tr>
              <a:tr h="1462677">
                <a:tc>
                  <a:txBody>
                    <a:bodyPr/>
                    <a:lstStyle/>
                    <a:p>
                      <a:r>
                        <a:rPr lang="en-US" sz="1400" b="0" i="0" u="none" baseline="0" dirty="0">
                          <a:latin typeface="Times New Roman" panose="02020603050405020304" pitchFamily="18" charset="0"/>
                          <a:cs typeface="Times New Roman" panose="02020603050405020304" pitchFamily="18" charset="0"/>
                        </a:rPr>
                        <a:t>(Ambar, Salim et al. 2023)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Development of a Wearable Sensor Glove for Real-Time Sign Language Translation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High accuracy for ASL alphabet </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Real-time display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Limited vocabulary</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It doesn’t handle dynamic phrases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400">
                          <a:latin typeface="Times New Roman" panose="02020603050405020304" pitchFamily="18" charset="0"/>
                          <a:cs typeface="Times New Roman" panose="02020603050405020304" pitchFamily="18" charset="0"/>
                        </a:rPr>
                        <a:t>Have a larger, diverse database with sign language gestures.</a:t>
                      </a:r>
                    </a:p>
                    <a:p>
                      <a:pPr marL="285750" indent="-285750">
                        <a:buFont typeface="Arial" panose="020B0604020202020204" pitchFamily="34" charset="0"/>
                        <a:buChar char="•"/>
                      </a:pPr>
                      <a:r>
                        <a:rPr lang="en-US" sz="1400">
                          <a:latin typeface="Times New Roman" panose="02020603050405020304" pitchFamily="18" charset="0"/>
                          <a:cs typeface="Times New Roman" panose="02020603050405020304" pitchFamily="18" charset="0"/>
                        </a:rPr>
                        <a:t>Add dynamic</a:t>
                      </a:r>
                      <a:r>
                        <a:rPr lang="en-US" sz="1400" baseline="0">
                          <a:latin typeface="Times New Roman" panose="02020603050405020304" pitchFamily="18" charset="0"/>
                          <a:cs typeface="Times New Roman" panose="02020603050405020304" pitchFamily="18" charset="0"/>
                        </a:rPr>
                        <a:t> gesture handling and a two-glove capture</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2219589"/>
                  </a:ext>
                </a:extLst>
              </a:tr>
              <a:tr h="780094">
                <a:tc>
                  <a:txBody>
                    <a:bodyPr/>
                    <a:lstStyle/>
                    <a:p>
                      <a:r>
                        <a:rPr lang="en-US" sz="1400" b="0" i="0" u="none" baseline="0" dirty="0">
                          <a:latin typeface="Times New Roman" panose="02020603050405020304" pitchFamily="18" charset="0"/>
                          <a:cs typeface="Times New Roman" panose="02020603050405020304" pitchFamily="18" charset="0"/>
                        </a:rPr>
                        <a:t>(Abougarair and Arebi 2022)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Smart Glove for Sign Language Translation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Simple wearable design </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Quick response time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400">
                          <a:latin typeface="Times New Roman" panose="02020603050405020304" pitchFamily="18" charset="0"/>
                          <a:cs typeface="Times New Roman" panose="02020603050405020304" pitchFamily="18" charset="0"/>
                        </a:rPr>
                        <a:t>No integration with mobility</a:t>
                      </a:r>
                    </a:p>
                    <a:p>
                      <a:pPr marL="285750" indent="-285750">
                        <a:buFont typeface="Arial" panose="020B0604020202020204" pitchFamily="34" charset="0"/>
                        <a:buChar char="•"/>
                      </a:pPr>
                      <a:r>
                        <a:rPr lang="en-US" sz="1400">
                          <a:latin typeface="Times New Roman" panose="02020603050405020304" pitchFamily="18" charset="0"/>
                          <a:cs typeface="Times New Roman" panose="02020603050405020304" pitchFamily="18" charset="0"/>
                        </a:rPr>
                        <a:t>Limited phrases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Expand vocabulary</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Integrate gesture recognition and mobility support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9651135"/>
                  </a:ext>
                </a:extLst>
              </a:tr>
              <a:tr h="1235149">
                <a:tc>
                  <a:txBody>
                    <a:bodyPr/>
                    <a:lstStyle/>
                    <a:p>
                      <a:r>
                        <a:rPr lang="en-US" sz="1400" b="0" i="0" u="none" baseline="0" dirty="0">
                          <a:latin typeface="Times New Roman" panose="02020603050405020304" pitchFamily="18" charset="0"/>
                          <a:cs typeface="Times New Roman" panose="02020603050405020304" pitchFamily="18" charset="0"/>
                        </a:rPr>
                        <a:t>(Olayiwola, Olayode et al. 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A Smart Walking Stick With Voice</a:t>
                      </a:r>
                      <a:r>
                        <a:rPr lang="en-US" sz="1400" baseline="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Guidance In An African Language For Visually Impaired Persons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a:latin typeface="Times New Roman" panose="02020603050405020304" pitchFamily="18" charset="0"/>
                          <a:cs typeface="Times New Roman" panose="02020603050405020304" pitchFamily="18" charset="0"/>
                        </a:rPr>
                        <a:t>Includes voice guidance</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Culturally/ linguistically relevant</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Helps non-English speaking users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Handles limited obstacle types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Improves obstacle detection accuracy and variety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3714787"/>
                  </a:ext>
                </a:extLst>
              </a:tr>
              <a:tr h="1289633">
                <a:tc>
                  <a:txBody>
                    <a:bodyPr/>
                    <a:lstStyle/>
                    <a:p>
                      <a:r>
                        <a:rPr lang="da-DK" sz="1400" b="0" i="0" u="none" baseline="0" dirty="0">
                          <a:latin typeface="Times New Roman" panose="02020603050405020304" pitchFamily="18" charset="0"/>
                          <a:cs typeface="Times New Roman" panose="02020603050405020304" pitchFamily="18" charset="0"/>
                        </a:rPr>
                        <a:t>(Farooq, Shafi et al. 2022)</a:t>
                      </a:r>
                      <a:endParaRPr lang="en-US" sz="1400" b="0" i="0" u="none" baseline="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dirty="0">
                          <a:latin typeface="Times New Roman" panose="02020603050405020304" pitchFamily="18" charset="0"/>
                          <a:cs typeface="Times New Roman" panose="02020603050405020304" pitchFamily="18" charset="0"/>
                        </a:rPr>
                        <a:t>IoT Enabled Intelligent Stick for Visually Impaired People for Obstacle Recognition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Supports remote monitoring </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Navigation assistance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400">
                          <a:latin typeface="Times New Roman" panose="02020603050405020304" pitchFamily="18" charset="0"/>
                          <a:cs typeface="Times New Roman" panose="02020603050405020304" pitchFamily="18" charset="0"/>
                        </a:rPr>
                        <a:t>Power constraints </a:t>
                      </a:r>
                    </a:p>
                    <a:p>
                      <a:pPr marL="285750" indent="-285750">
                        <a:buFont typeface="Arial" panose="020B0604020202020204" pitchFamily="34" charset="0"/>
                        <a:buChar char="•"/>
                      </a:pPr>
                      <a:r>
                        <a:rPr lang="en-US" sz="1400">
                          <a:latin typeface="Times New Roman" panose="02020603050405020304" pitchFamily="18" charset="0"/>
                          <a:cs typeface="Times New Roman" panose="02020603050405020304" pitchFamily="18" charset="0"/>
                        </a:rPr>
                        <a:t>No communication integration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Support more communication features and lower latency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6069997"/>
                  </a:ext>
                </a:extLst>
              </a:tr>
            </a:tbl>
          </a:graphicData>
        </a:graphic>
      </p:graphicFrame>
      <p:pic>
        <p:nvPicPr>
          <p:cNvPr id="3" name="Picture 2" descr="This may contain: the letter s is made up of two intersecting lines, and it appears to be black">
            <a:extLst>
              <a:ext uri="{FF2B5EF4-FFF2-40B4-BE49-F238E27FC236}">
                <a16:creationId xmlns:a16="http://schemas.microsoft.com/office/drawing/2014/main" id="{C487BAE6-59A0-EDA8-7281-66BFA964A517}"/>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backgroundRemoval t="10000" b="90000" l="10000" r="90000">
                        <a14:foregroundMark x1="35623" y1="60383" x2="35623" y2="60383"/>
                        <a14:foregroundMark x1="60703" y1="41054" x2="60703" y2="41054"/>
                      </a14:backgroundRemoval>
                    </a14:imgEffect>
                  </a14:imgLayer>
                </a14:imgProps>
              </a:ext>
              <a:ext uri="{28A0092B-C50C-407E-A947-70E740481C1C}">
                <a14:useLocalDpi xmlns:a14="http://schemas.microsoft.com/office/drawing/2010/main" val="0"/>
              </a:ext>
            </a:extLst>
          </a:blip>
          <a:srcRect/>
          <a:stretch>
            <a:fillRect/>
          </a:stretch>
        </p:blipFill>
        <p:spPr bwMode="auto">
          <a:xfrm>
            <a:off x="0" y="-123306"/>
            <a:ext cx="1365697" cy="1365697"/>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0EB7938B-3C62-39D8-8740-4715499D7396}"/>
              </a:ext>
            </a:extLst>
          </p:cNvPr>
          <p:cNvSpPr>
            <a:spLocks noGrp="1"/>
          </p:cNvSpPr>
          <p:nvPr>
            <p:ph type="sldNum" sz="quarter" idx="12"/>
          </p:nvPr>
        </p:nvSpPr>
        <p:spPr/>
        <p:txBody>
          <a:bodyPr/>
          <a:lstStyle/>
          <a:p>
            <a:fld id="{59198F8E-9E1E-4209-934C-4DCBBC18FC64}" type="slidenum">
              <a:rPr lang="en-US" smtClean="0"/>
              <a:t>5</a:t>
            </a:fld>
            <a:endParaRPr lang="en-US"/>
          </a:p>
        </p:txBody>
      </p:sp>
    </p:spTree>
    <p:extLst>
      <p:ext uri="{BB962C8B-B14F-4D97-AF65-F5344CB8AC3E}">
        <p14:creationId xmlns:p14="http://schemas.microsoft.com/office/powerpoint/2010/main" val="40878723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2"/>
          <a:stretch>
            <a:fillRect/>
          </a:stretch>
        </p:blipFill>
        <p:spPr>
          <a:xfrm>
            <a:off x="0" y="0"/>
            <a:ext cx="12192000" cy="6858000"/>
          </a:xfrm>
          <a:prstGeom prst="rect">
            <a:avLst/>
          </a:prstGeom>
        </p:spPr>
      </p:pic>
      <p:pic>
        <p:nvPicPr>
          <p:cNvPr id="3" name="Picture 2" descr="image3.png"/>
          <p:cNvPicPr>
            <a:picLocks noChangeAspect="1"/>
          </p:cNvPicPr>
          <p:nvPr/>
        </p:nvPicPr>
        <p:blipFill>
          <a:blip r:embed="rId3"/>
          <a:stretch>
            <a:fillRect/>
          </a:stretch>
        </p:blipFill>
        <p:spPr>
          <a:xfrm>
            <a:off x="-36576" y="-91440"/>
            <a:ext cx="1234440" cy="1234440"/>
          </a:xfrm>
          <a:prstGeom prst="rect">
            <a:avLst/>
          </a:prstGeom>
        </p:spPr>
      </p:pic>
      <p:sp>
        <p:nvSpPr>
          <p:cNvPr id="4" name="TextBox 3"/>
          <p:cNvSpPr txBox="1"/>
          <p:nvPr/>
        </p:nvSpPr>
        <p:spPr>
          <a:xfrm>
            <a:off x="11403402" y="6327648"/>
            <a:ext cx="255198" cy="261610"/>
          </a:xfrm>
          <a:prstGeom prst="rect">
            <a:avLst/>
          </a:prstGeom>
          <a:noFill/>
        </p:spPr>
        <p:txBody>
          <a:bodyPr wrap="none">
            <a:spAutoFit/>
          </a:bodyPr>
          <a:lstStyle/>
          <a:p>
            <a:pPr algn="r"/>
            <a:r>
              <a:rPr sz="1100">
                <a:solidFill>
                  <a:srgbClr val="545960"/>
                </a:solidFill>
                <a:latin typeface="Times New Roman" panose="02020603050405020304" pitchFamily="18" charset="0"/>
                <a:cs typeface="Times New Roman" panose="02020603050405020304" pitchFamily="18" charset="0"/>
              </a:rPr>
              <a:t>9</a:t>
            </a:r>
          </a:p>
        </p:txBody>
      </p:sp>
      <p:sp>
        <p:nvSpPr>
          <p:cNvPr id="5" name="TextBox 4"/>
          <p:cNvSpPr txBox="1"/>
          <p:nvPr/>
        </p:nvSpPr>
        <p:spPr>
          <a:xfrm>
            <a:off x="3460551" y="612573"/>
            <a:ext cx="4352474" cy="646331"/>
          </a:xfrm>
          <a:prstGeom prst="rect">
            <a:avLst/>
          </a:prstGeom>
          <a:noFill/>
        </p:spPr>
        <p:txBody>
          <a:bodyPr wrap="none">
            <a:spAutoFit/>
          </a:bodyPr>
          <a:lstStyle/>
          <a:p>
            <a:r>
              <a:rPr sz="3600" b="1" dirty="0">
                <a:solidFill>
                  <a:srgbClr val="141F36"/>
                </a:solidFill>
                <a:latin typeface="Times New Roman" panose="02020603050405020304" pitchFamily="18" charset="0"/>
                <a:cs typeface="Times New Roman" panose="02020603050405020304" pitchFamily="18" charset="0"/>
              </a:rPr>
              <a:t>System Functionality</a:t>
            </a:r>
          </a:p>
        </p:txBody>
      </p:sp>
      <p:cxnSp>
        <p:nvCxnSpPr>
          <p:cNvPr id="6" name="Connector 5"/>
          <p:cNvCxnSpPr/>
          <p:nvPr/>
        </p:nvCxnSpPr>
        <p:spPr>
          <a:xfrm>
            <a:off x="3554229" y="1316736"/>
            <a:ext cx="8641080" cy="0"/>
          </a:xfrm>
          <a:prstGeom prst="line">
            <a:avLst/>
          </a:prstGeom>
          <a:ln/>
        </p:spPr>
        <p:style>
          <a:lnRef idx="1">
            <a:schemeClr val="dk1"/>
          </a:lnRef>
          <a:fillRef idx="0">
            <a:schemeClr val="dk1"/>
          </a:fillRef>
          <a:effectRef idx="0">
            <a:schemeClr val="dk1"/>
          </a:effectRef>
          <a:fontRef idx="minor">
            <a:schemeClr val="tx1"/>
          </a:fontRef>
        </p:style>
      </p:cxnSp>
      <p:sp>
        <p:nvSpPr>
          <p:cNvPr id="8" name="Rounded Rectangle 7"/>
          <p:cNvSpPr/>
          <p:nvPr/>
        </p:nvSpPr>
        <p:spPr>
          <a:xfrm>
            <a:off x="777240" y="1847088"/>
            <a:ext cx="2057400" cy="3429000"/>
          </a:xfrm>
          <a:prstGeom prst="roundRect">
            <a:avLst/>
          </a:prstGeom>
          <a:solidFill>
            <a:srgbClr val="E2F4EA"/>
          </a:solidFill>
          <a:ln w="12700">
            <a:solidFill>
              <a:srgbClr val="1382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Times New Roman" panose="02020603050405020304" pitchFamily="18" charset="0"/>
              <a:cs typeface="Times New Roman" panose="02020603050405020304" pitchFamily="18" charset="0"/>
            </a:endParaRPr>
          </a:p>
        </p:txBody>
      </p:sp>
      <p:sp>
        <p:nvSpPr>
          <p:cNvPr id="9" name="Oval 8"/>
          <p:cNvSpPr/>
          <p:nvPr/>
        </p:nvSpPr>
        <p:spPr>
          <a:xfrm>
            <a:off x="1344168" y="2148840"/>
            <a:ext cx="914400" cy="914400"/>
          </a:xfrm>
          <a:prstGeom prst="ellipse">
            <a:avLst/>
          </a:prstGeom>
          <a:solidFill>
            <a:srgbClr val="138246"/>
          </a:solidFill>
          <a:ln>
            <a:solidFill>
              <a:srgbClr val="13824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b="1">
                <a:solidFill>
                  <a:srgbClr val="FFFFFF"/>
                </a:solidFill>
                <a:latin typeface="Times New Roman" panose="02020603050405020304" pitchFamily="18" charset="0"/>
                <a:cs typeface="Times New Roman" panose="02020603050405020304" pitchFamily="18" charset="0"/>
              </a:rPr>
              <a:t>G</a:t>
            </a:r>
          </a:p>
        </p:txBody>
      </p:sp>
      <p:sp>
        <p:nvSpPr>
          <p:cNvPr id="10" name="TextBox 9"/>
          <p:cNvSpPr txBox="1"/>
          <p:nvPr/>
        </p:nvSpPr>
        <p:spPr>
          <a:xfrm>
            <a:off x="1024880" y="3364992"/>
            <a:ext cx="1571264" cy="400110"/>
          </a:xfrm>
          <a:prstGeom prst="rect">
            <a:avLst/>
          </a:prstGeom>
          <a:noFill/>
        </p:spPr>
        <p:txBody>
          <a:bodyPr wrap="none">
            <a:spAutoFit/>
          </a:bodyPr>
          <a:lstStyle/>
          <a:p>
            <a:pPr algn="ctr"/>
            <a:r>
              <a:rPr sz="2000" b="1" dirty="0">
                <a:solidFill>
                  <a:srgbClr val="141F36"/>
                </a:solidFill>
                <a:latin typeface="Times New Roman" panose="02020603050405020304" pitchFamily="18" charset="0"/>
                <a:cs typeface="Times New Roman" panose="02020603050405020304" pitchFamily="18" charset="0"/>
              </a:rPr>
              <a:t>Smart Glove</a:t>
            </a:r>
          </a:p>
        </p:txBody>
      </p:sp>
      <p:sp>
        <p:nvSpPr>
          <p:cNvPr id="11" name="TextBox 10"/>
          <p:cNvSpPr txBox="1"/>
          <p:nvPr/>
        </p:nvSpPr>
        <p:spPr>
          <a:xfrm>
            <a:off x="960120" y="3895344"/>
            <a:ext cx="1700784" cy="646331"/>
          </a:xfrm>
          <a:prstGeom prst="rect">
            <a:avLst/>
          </a:prstGeom>
          <a:noFill/>
        </p:spPr>
        <p:txBody>
          <a:bodyPr wrap="square">
            <a:spAutoFit/>
          </a:bodyPr>
          <a:lstStyle/>
          <a:p>
            <a:pPr algn="ctr"/>
            <a:r>
              <a:rPr dirty="0">
                <a:solidFill>
                  <a:srgbClr val="545960"/>
                </a:solidFill>
                <a:latin typeface="Times New Roman" panose="02020603050405020304" pitchFamily="18" charset="0"/>
                <a:cs typeface="Times New Roman" panose="02020603050405020304" pitchFamily="18" charset="0"/>
              </a:rPr>
              <a:t>Signs to letters</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and words</a:t>
            </a:r>
          </a:p>
        </p:txBody>
      </p:sp>
      <p:sp>
        <p:nvSpPr>
          <p:cNvPr id="12" name="Rounded Rectangle 11"/>
          <p:cNvSpPr/>
          <p:nvPr/>
        </p:nvSpPr>
        <p:spPr>
          <a:xfrm>
            <a:off x="3639312" y="1847088"/>
            <a:ext cx="2057400" cy="3429000"/>
          </a:xfrm>
          <a:prstGeom prst="roundRect">
            <a:avLst/>
          </a:prstGeom>
          <a:solidFill>
            <a:srgbClr val="E1F4FC"/>
          </a:solidFill>
          <a:ln w="12700">
            <a:solidFill>
              <a:srgbClr val="259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 name="Oval 12"/>
          <p:cNvSpPr/>
          <p:nvPr/>
        </p:nvSpPr>
        <p:spPr>
          <a:xfrm>
            <a:off x="4206240" y="2148840"/>
            <a:ext cx="914400" cy="914400"/>
          </a:xfrm>
          <a:prstGeom prst="ellipse">
            <a:avLst/>
          </a:prstGeom>
          <a:solidFill>
            <a:srgbClr val="2594C7"/>
          </a:solidFill>
          <a:ln>
            <a:solidFill>
              <a:srgbClr val="259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b="1">
                <a:solidFill>
                  <a:srgbClr val="FFFFFF"/>
                </a:solidFill>
                <a:latin typeface="Times New Roman" panose="02020603050405020304" pitchFamily="18" charset="0"/>
                <a:cs typeface="Times New Roman" panose="02020603050405020304" pitchFamily="18" charset="0"/>
              </a:rPr>
              <a:t>S</a:t>
            </a:r>
          </a:p>
        </p:txBody>
      </p:sp>
      <p:sp>
        <p:nvSpPr>
          <p:cNvPr id="14" name="TextBox 13"/>
          <p:cNvSpPr txBox="1"/>
          <p:nvPr/>
        </p:nvSpPr>
        <p:spPr>
          <a:xfrm>
            <a:off x="3929432" y="3364992"/>
            <a:ext cx="1486304" cy="400110"/>
          </a:xfrm>
          <a:prstGeom prst="rect">
            <a:avLst/>
          </a:prstGeom>
          <a:noFill/>
        </p:spPr>
        <p:txBody>
          <a:bodyPr wrap="none">
            <a:spAutoFit/>
          </a:bodyPr>
          <a:lstStyle/>
          <a:p>
            <a:pPr algn="ctr"/>
            <a:r>
              <a:rPr sz="2000" b="1" dirty="0">
                <a:solidFill>
                  <a:srgbClr val="141F36"/>
                </a:solidFill>
                <a:latin typeface="Times New Roman" panose="02020603050405020304" pitchFamily="18" charset="0"/>
                <a:cs typeface="Times New Roman" panose="02020603050405020304" pitchFamily="18" charset="0"/>
              </a:rPr>
              <a:t>Smart Stick</a:t>
            </a:r>
          </a:p>
        </p:txBody>
      </p:sp>
      <p:sp>
        <p:nvSpPr>
          <p:cNvPr id="15" name="TextBox 14"/>
          <p:cNvSpPr txBox="1"/>
          <p:nvPr/>
        </p:nvSpPr>
        <p:spPr>
          <a:xfrm>
            <a:off x="3822191" y="3895344"/>
            <a:ext cx="1700784" cy="646331"/>
          </a:xfrm>
          <a:prstGeom prst="rect">
            <a:avLst/>
          </a:prstGeom>
          <a:noFill/>
        </p:spPr>
        <p:txBody>
          <a:bodyPr wrap="square">
            <a:spAutoFit/>
          </a:bodyPr>
          <a:lstStyle/>
          <a:p>
            <a:pPr algn="ctr"/>
            <a:r>
              <a:rPr dirty="0">
                <a:solidFill>
                  <a:srgbClr val="545960"/>
                </a:solidFill>
                <a:latin typeface="Times New Roman" panose="02020603050405020304" pitchFamily="18" charset="0"/>
                <a:cs typeface="Times New Roman" panose="02020603050405020304" pitchFamily="18" charset="0"/>
              </a:rPr>
              <a:t>Distance and</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voice guidance</a:t>
            </a:r>
          </a:p>
        </p:txBody>
      </p:sp>
      <p:sp>
        <p:nvSpPr>
          <p:cNvPr id="16" name="Rounded Rectangle 15"/>
          <p:cNvSpPr/>
          <p:nvPr/>
        </p:nvSpPr>
        <p:spPr>
          <a:xfrm>
            <a:off x="6492240" y="1847088"/>
            <a:ext cx="2057400" cy="3429000"/>
          </a:xfrm>
          <a:prstGeom prst="roundRect">
            <a:avLst/>
          </a:prstGeom>
          <a:solidFill>
            <a:srgbClr val="E2F4EA"/>
          </a:solidFill>
          <a:ln w="12700">
            <a:solidFill>
              <a:srgbClr val="00808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7" name="Oval 16"/>
          <p:cNvSpPr/>
          <p:nvPr/>
        </p:nvSpPr>
        <p:spPr>
          <a:xfrm>
            <a:off x="7059168" y="2148840"/>
            <a:ext cx="914400" cy="914400"/>
          </a:xfrm>
          <a:prstGeom prst="ellipse">
            <a:avLst/>
          </a:prstGeom>
          <a:solidFill>
            <a:srgbClr val="00808C"/>
          </a:solidFill>
          <a:ln>
            <a:solidFill>
              <a:srgbClr val="00808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b="1">
                <a:solidFill>
                  <a:srgbClr val="FFFFFF"/>
                </a:solidFill>
                <a:latin typeface="Times New Roman" panose="02020603050405020304" pitchFamily="18" charset="0"/>
                <a:cs typeface="Times New Roman" panose="02020603050405020304" pitchFamily="18" charset="0"/>
              </a:rPr>
              <a:t>A</a:t>
            </a:r>
          </a:p>
        </p:txBody>
      </p:sp>
      <p:sp>
        <p:nvSpPr>
          <p:cNvPr id="18" name="TextBox 17"/>
          <p:cNvSpPr txBox="1"/>
          <p:nvPr/>
        </p:nvSpPr>
        <p:spPr>
          <a:xfrm>
            <a:off x="6711602" y="3364992"/>
            <a:ext cx="1627817" cy="400110"/>
          </a:xfrm>
          <a:prstGeom prst="rect">
            <a:avLst/>
          </a:prstGeom>
          <a:noFill/>
        </p:spPr>
        <p:txBody>
          <a:bodyPr wrap="none">
            <a:spAutoFit/>
          </a:bodyPr>
          <a:lstStyle/>
          <a:p>
            <a:pPr algn="ctr"/>
            <a:r>
              <a:rPr sz="2000" b="1" dirty="0">
                <a:solidFill>
                  <a:srgbClr val="141F36"/>
                </a:solidFill>
                <a:latin typeface="Times New Roman" panose="02020603050405020304" pitchFamily="18" charset="0"/>
                <a:cs typeface="Times New Roman" panose="02020603050405020304" pitchFamily="18" charset="0"/>
              </a:rPr>
              <a:t>Android App</a:t>
            </a:r>
          </a:p>
        </p:txBody>
      </p:sp>
      <p:sp>
        <p:nvSpPr>
          <p:cNvPr id="19" name="TextBox 18"/>
          <p:cNvSpPr txBox="1"/>
          <p:nvPr/>
        </p:nvSpPr>
        <p:spPr>
          <a:xfrm>
            <a:off x="6675120" y="3895344"/>
            <a:ext cx="1700784" cy="923330"/>
          </a:xfrm>
          <a:prstGeom prst="rect">
            <a:avLst/>
          </a:prstGeom>
          <a:noFill/>
        </p:spPr>
        <p:txBody>
          <a:bodyPr wrap="square">
            <a:spAutoFit/>
          </a:bodyPr>
          <a:lstStyle/>
          <a:p>
            <a:pPr algn="ctr"/>
            <a:r>
              <a:rPr dirty="0">
                <a:solidFill>
                  <a:srgbClr val="545960"/>
                </a:solidFill>
                <a:latin typeface="Times New Roman" panose="02020603050405020304" pitchFamily="18" charset="0"/>
                <a:cs typeface="Times New Roman" panose="02020603050405020304" pitchFamily="18" charset="0"/>
              </a:rPr>
              <a:t>Captions, speech</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and control</a:t>
            </a:r>
          </a:p>
        </p:txBody>
      </p:sp>
      <p:sp>
        <p:nvSpPr>
          <p:cNvPr id="20" name="Rounded Rectangle 19"/>
          <p:cNvSpPr/>
          <p:nvPr/>
        </p:nvSpPr>
        <p:spPr>
          <a:xfrm>
            <a:off x="9326880" y="1847088"/>
            <a:ext cx="2057400" cy="3429000"/>
          </a:xfrm>
          <a:prstGeom prst="roundRect">
            <a:avLst/>
          </a:prstGeom>
          <a:solidFill>
            <a:srgbClr val="FFF4CE"/>
          </a:solidFill>
          <a:ln w="12700">
            <a:solidFill>
              <a:srgbClr val="C791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1" name="Oval 20"/>
          <p:cNvSpPr/>
          <p:nvPr/>
        </p:nvSpPr>
        <p:spPr>
          <a:xfrm>
            <a:off x="9893807" y="2148840"/>
            <a:ext cx="914400" cy="914400"/>
          </a:xfrm>
          <a:prstGeom prst="ellipse">
            <a:avLst/>
          </a:prstGeom>
          <a:solidFill>
            <a:srgbClr val="C7911C"/>
          </a:solidFill>
          <a:ln>
            <a:solidFill>
              <a:srgbClr val="C7911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b="1" dirty="0">
                <a:solidFill>
                  <a:srgbClr val="FFFFFF"/>
                </a:solidFill>
                <a:latin typeface="Times New Roman" panose="02020603050405020304" pitchFamily="18" charset="0"/>
                <a:cs typeface="Times New Roman" panose="02020603050405020304" pitchFamily="18" charset="0"/>
              </a:rPr>
              <a:t>C</a:t>
            </a:r>
          </a:p>
        </p:txBody>
      </p:sp>
      <p:sp>
        <p:nvSpPr>
          <p:cNvPr id="22" name="TextBox 21"/>
          <p:cNvSpPr txBox="1"/>
          <p:nvPr/>
        </p:nvSpPr>
        <p:spPr>
          <a:xfrm>
            <a:off x="9373343" y="3364992"/>
            <a:ext cx="1973617" cy="400110"/>
          </a:xfrm>
          <a:prstGeom prst="rect">
            <a:avLst/>
          </a:prstGeom>
          <a:noFill/>
        </p:spPr>
        <p:txBody>
          <a:bodyPr wrap="none">
            <a:spAutoFit/>
          </a:bodyPr>
          <a:lstStyle/>
          <a:p>
            <a:pPr algn="ctr"/>
            <a:r>
              <a:rPr sz="2000" b="1" dirty="0">
                <a:solidFill>
                  <a:srgbClr val="141F36"/>
                </a:solidFill>
                <a:latin typeface="Times New Roman" panose="02020603050405020304" pitchFamily="18" charset="0"/>
                <a:cs typeface="Times New Roman" panose="02020603050405020304" pitchFamily="18" charset="0"/>
              </a:rPr>
              <a:t>Camera Backup</a:t>
            </a:r>
          </a:p>
        </p:txBody>
      </p:sp>
      <p:sp>
        <p:nvSpPr>
          <p:cNvPr id="23" name="TextBox 22"/>
          <p:cNvSpPr txBox="1"/>
          <p:nvPr/>
        </p:nvSpPr>
        <p:spPr>
          <a:xfrm>
            <a:off x="9509759" y="3895344"/>
            <a:ext cx="1700784" cy="646331"/>
          </a:xfrm>
          <a:prstGeom prst="rect">
            <a:avLst/>
          </a:prstGeom>
          <a:noFill/>
        </p:spPr>
        <p:txBody>
          <a:bodyPr wrap="square">
            <a:spAutoFit/>
          </a:bodyPr>
          <a:lstStyle/>
          <a:p>
            <a:pPr algn="ctr"/>
            <a:r>
              <a:rPr dirty="0">
                <a:solidFill>
                  <a:srgbClr val="545960"/>
                </a:solidFill>
                <a:latin typeface="Times New Roman" panose="02020603050405020304" pitchFamily="18" charset="0"/>
                <a:cs typeface="Times New Roman" panose="02020603050405020304" pitchFamily="18" charset="0"/>
              </a:rPr>
              <a:t>Visual signs and</a:t>
            </a:r>
            <a:br>
              <a:rPr dirty="0">
                <a:latin typeface="Times New Roman" panose="02020603050405020304" pitchFamily="18" charset="0"/>
                <a:cs typeface="Times New Roman" panose="02020603050405020304" pitchFamily="18" charset="0"/>
              </a:rPr>
            </a:br>
            <a:r>
              <a:rPr dirty="0">
                <a:latin typeface="Times New Roman" panose="02020603050405020304" pitchFamily="18" charset="0"/>
                <a:cs typeface="Times New Roman" panose="02020603050405020304" pitchFamily="18" charset="0"/>
              </a:rPr>
              <a:t>custom letters</a:t>
            </a:r>
          </a:p>
        </p:txBody>
      </p:sp>
      <p:sp>
        <p:nvSpPr>
          <p:cNvPr id="24" name="TextBox 23"/>
          <p:cNvSpPr txBox="1"/>
          <p:nvPr/>
        </p:nvSpPr>
        <p:spPr>
          <a:xfrm>
            <a:off x="1075223" y="5605272"/>
            <a:ext cx="10011074" cy="400110"/>
          </a:xfrm>
          <a:prstGeom prst="rect">
            <a:avLst/>
          </a:prstGeom>
          <a:noFill/>
        </p:spPr>
        <p:txBody>
          <a:bodyPr wrap="none">
            <a:spAutoFit/>
          </a:bodyPr>
          <a:lstStyle/>
          <a:p>
            <a:pPr algn="ctr"/>
            <a:r>
              <a:rPr sz="2000" dirty="0">
                <a:solidFill>
                  <a:srgbClr val="141F36"/>
                </a:solidFill>
                <a:latin typeface="Times New Roman" panose="02020603050405020304" pitchFamily="18" charset="0"/>
                <a:cs typeface="Times New Roman" panose="02020603050405020304" pitchFamily="18" charset="0"/>
              </a:rPr>
              <a:t>Each part works locally and supports either blind audio guidance or deaf visual communication.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1.jpg"/>
          <p:cNvPicPr>
            <a:picLocks noChangeAspect="1"/>
          </p:cNvPicPr>
          <p:nvPr/>
        </p:nvPicPr>
        <p:blipFill>
          <a:blip r:embed="rId2"/>
          <a:stretch>
            <a:fillRect/>
          </a:stretch>
        </p:blipFill>
        <p:spPr>
          <a:xfrm>
            <a:off x="0" y="0"/>
            <a:ext cx="12192000" cy="6858000"/>
          </a:xfrm>
          <a:prstGeom prst="rect">
            <a:avLst/>
          </a:prstGeom>
        </p:spPr>
      </p:pic>
      <p:pic>
        <p:nvPicPr>
          <p:cNvPr id="3" name="Picture 2" descr="image3.png"/>
          <p:cNvPicPr>
            <a:picLocks noChangeAspect="1"/>
          </p:cNvPicPr>
          <p:nvPr/>
        </p:nvPicPr>
        <p:blipFill>
          <a:blip r:embed="rId3"/>
          <a:stretch>
            <a:fillRect/>
          </a:stretch>
        </p:blipFill>
        <p:spPr>
          <a:xfrm>
            <a:off x="-36576" y="-91440"/>
            <a:ext cx="1234440" cy="1234440"/>
          </a:xfrm>
          <a:prstGeom prst="rect">
            <a:avLst/>
          </a:prstGeom>
        </p:spPr>
      </p:pic>
      <p:sp>
        <p:nvSpPr>
          <p:cNvPr id="4" name="TextBox 3"/>
          <p:cNvSpPr txBox="1"/>
          <p:nvPr/>
        </p:nvSpPr>
        <p:spPr>
          <a:xfrm>
            <a:off x="11226942" y="6327648"/>
            <a:ext cx="431658" cy="400110"/>
          </a:xfrm>
          <a:prstGeom prst="rect">
            <a:avLst/>
          </a:prstGeom>
          <a:noFill/>
        </p:spPr>
        <p:txBody>
          <a:bodyPr wrap="none">
            <a:spAutoFit/>
          </a:bodyPr>
          <a:lstStyle/>
          <a:p>
            <a:pPr algn="r"/>
            <a:r>
              <a:rPr sz="2000">
                <a:solidFill>
                  <a:srgbClr val="545960"/>
                </a:solidFill>
                <a:latin typeface="Times New Roman" panose="02020603050405020304" pitchFamily="18" charset="0"/>
                <a:cs typeface="Times New Roman" panose="02020603050405020304" pitchFamily="18" charset="0"/>
              </a:rPr>
              <a:t>11</a:t>
            </a:r>
          </a:p>
        </p:txBody>
      </p:sp>
      <p:sp>
        <p:nvSpPr>
          <p:cNvPr id="5" name="TextBox 4"/>
          <p:cNvSpPr txBox="1"/>
          <p:nvPr/>
        </p:nvSpPr>
        <p:spPr>
          <a:xfrm>
            <a:off x="3464777" y="705755"/>
            <a:ext cx="5689378" cy="707886"/>
          </a:xfrm>
          <a:prstGeom prst="rect">
            <a:avLst/>
          </a:prstGeom>
          <a:noFill/>
        </p:spPr>
        <p:txBody>
          <a:bodyPr wrap="none">
            <a:spAutoFit/>
          </a:bodyPr>
          <a:lstStyle/>
          <a:p>
            <a:r>
              <a:rPr sz="4000" b="1" dirty="0">
                <a:solidFill>
                  <a:srgbClr val="141F36"/>
                </a:solidFill>
                <a:latin typeface="Times New Roman" panose="02020603050405020304" pitchFamily="18" charset="0"/>
                <a:cs typeface="Times New Roman" panose="02020603050405020304" pitchFamily="18" charset="0"/>
              </a:rPr>
              <a:t>Challenges and Solutions</a:t>
            </a:r>
          </a:p>
        </p:txBody>
      </p:sp>
      <p:graphicFrame>
        <p:nvGraphicFramePr>
          <p:cNvPr id="32" name="Table 31">
            <a:extLst>
              <a:ext uri="{FF2B5EF4-FFF2-40B4-BE49-F238E27FC236}">
                <a16:creationId xmlns:a16="http://schemas.microsoft.com/office/drawing/2014/main" id="{07C03029-AF57-6BCF-F8C2-C3D7B23CF03D}"/>
              </a:ext>
            </a:extLst>
          </p:cNvPr>
          <p:cNvGraphicFramePr>
            <a:graphicFrameLocks noGrp="1"/>
          </p:cNvGraphicFramePr>
          <p:nvPr>
            <p:extLst>
              <p:ext uri="{D42A27DB-BD31-4B8C-83A1-F6EECF244321}">
                <p14:modId xmlns:p14="http://schemas.microsoft.com/office/powerpoint/2010/main" val="650866326"/>
              </p:ext>
            </p:extLst>
          </p:nvPr>
        </p:nvGraphicFramePr>
        <p:xfrm>
          <a:off x="777722" y="1514012"/>
          <a:ext cx="10209840" cy="4830756"/>
        </p:xfrm>
        <a:graphic>
          <a:graphicData uri="http://schemas.openxmlformats.org/drawingml/2006/table">
            <a:tbl>
              <a:tblPr firstRow="1" bandRow="1">
                <a:tableStyleId>{5940675A-B579-460E-94D1-54222C63F5DA}</a:tableStyleId>
              </a:tblPr>
              <a:tblGrid>
                <a:gridCol w="5104920">
                  <a:extLst>
                    <a:ext uri="{9D8B030D-6E8A-4147-A177-3AD203B41FA5}">
                      <a16:colId xmlns:a16="http://schemas.microsoft.com/office/drawing/2014/main" val="47194225"/>
                    </a:ext>
                  </a:extLst>
                </a:gridCol>
                <a:gridCol w="5104920">
                  <a:extLst>
                    <a:ext uri="{9D8B030D-6E8A-4147-A177-3AD203B41FA5}">
                      <a16:colId xmlns:a16="http://schemas.microsoft.com/office/drawing/2014/main" val="2560247165"/>
                    </a:ext>
                  </a:extLst>
                </a:gridCol>
              </a:tblGrid>
              <a:tr h="51050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b="1" dirty="0">
                          <a:solidFill>
                            <a:srgbClr val="141F36"/>
                          </a:solidFill>
                          <a:latin typeface="Times New Roman" panose="02020603050405020304" pitchFamily="18" charset="0"/>
                          <a:cs typeface="Times New Roman" panose="02020603050405020304" pitchFamily="18" charset="0"/>
                        </a:rPr>
                        <a:t>Challenge</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b="1" dirty="0">
                          <a:solidFill>
                            <a:srgbClr val="141F36"/>
                          </a:solidFill>
                          <a:latin typeface="Times New Roman" panose="02020603050405020304" pitchFamily="18" charset="0"/>
                          <a:cs typeface="Times New Roman" panose="02020603050405020304" pitchFamily="18" charset="0"/>
                        </a:rPr>
                        <a:t>Response</a:t>
                      </a:r>
                    </a:p>
                  </a:txBody>
                  <a:tcPr/>
                </a:tc>
                <a:extLst>
                  <a:ext uri="{0D108BD9-81ED-4DB2-BD59-A6C34878D82A}">
                    <a16:rowId xmlns:a16="http://schemas.microsoft.com/office/drawing/2014/main" val="3068562469"/>
                  </a:ext>
                </a:extLst>
              </a:tr>
              <a:tr h="78288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41F36"/>
                          </a:solidFill>
                          <a:latin typeface="Times New Roman" panose="02020603050405020304" pitchFamily="18" charset="0"/>
                          <a:cs typeface="Times New Roman" panose="02020603050405020304" pitchFamily="18" charset="0"/>
                        </a:rPr>
                        <a:t>Flex sensor readings varied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545960"/>
                          </a:solidFill>
                          <a:latin typeface="Times New Roman" panose="02020603050405020304" pitchFamily="18" charset="0"/>
                          <a:cs typeface="Times New Roman" panose="02020603050405020304" pitchFamily="18" charset="0"/>
                        </a:rPr>
                        <a:t>Added calibration, smoothing, raw-value fallback, and user-defined letter training.</a:t>
                      </a:r>
                    </a:p>
                  </a:txBody>
                  <a:tcPr/>
                </a:tc>
                <a:extLst>
                  <a:ext uri="{0D108BD9-81ED-4DB2-BD59-A6C34878D82A}">
                    <a16:rowId xmlns:a16="http://schemas.microsoft.com/office/drawing/2014/main" val="3204422679"/>
                  </a:ext>
                </a:extLst>
              </a:tr>
              <a:tr h="111840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41F36"/>
                          </a:solidFill>
                          <a:latin typeface="Times New Roman" panose="02020603050405020304" pitchFamily="18" charset="0"/>
                          <a:cs typeface="Times New Roman" panose="02020603050405020304" pitchFamily="18" charset="0"/>
                        </a:rPr>
                        <a:t>Power affected glove detection</a:t>
                      </a:r>
                    </a:p>
                    <a:p>
                      <a:endParaRPr lang="en-UG"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545960"/>
                          </a:solidFill>
                          <a:latin typeface="Times New Roman" panose="02020603050405020304" pitchFamily="18" charset="0"/>
                          <a:cs typeface="Times New Roman" panose="02020603050405020304" pitchFamily="18" charset="0"/>
                        </a:rPr>
                        <a:t>Separated testing on USB and direct power; recommended stable 3.3V and proper voltage dividers. And it persisted on calibration too.( not solved)</a:t>
                      </a:r>
                    </a:p>
                  </a:txBody>
                  <a:tcPr/>
                </a:tc>
                <a:extLst>
                  <a:ext uri="{0D108BD9-81ED-4DB2-BD59-A6C34878D82A}">
                    <a16:rowId xmlns:a16="http://schemas.microsoft.com/office/drawing/2014/main" val="1987122544"/>
                  </a:ext>
                </a:extLst>
              </a:tr>
              <a:tr h="78288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41F36"/>
                          </a:solidFill>
                          <a:latin typeface="Times New Roman" panose="02020603050405020304" pitchFamily="18" charset="0"/>
                          <a:cs typeface="Times New Roman" panose="02020603050405020304" pitchFamily="18" charset="0"/>
                        </a:rPr>
                        <a:t>Bluetooth speaker cannot act as a mic</a:t>
                      </a:r>
                    </a:p>
                    <a:p>
                      <a:endParaRPr lang="en-UG"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545960"/>
                          </a:solidFill>
                          <a:latin typeface="Times New Roman" panose="02020603050405020304" pitchFamily="18" charset="0"/>
                          <a:cs typeface="Times New Roman" panose="02020603050405020304" pitchFamily="18" charset="0"/>
                        </a:rPr>
                        <a:t>Used speaker for output and kept phone voice commands/app input separate.</a:t>
                      </a:r>
                    </a:p>
                  </a:txBody>
                  <a:tcPr/>
                </a:tc>
                <a:extLst>
                  <a:ext uri="{0D108BD9-81ED-4DB2-BD59-A6C34878D82A}">
                    <a16:rowId xmlns:a16="http://schemas.microsoft.com/office/drawing/2014/main" val="780806941"/>
                  </a:ext>
                </a:extLst>
              </a:tr>
              <a:tr h="78288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41F36"/>
                          </a:solidFill>
                          <a:latin typeface="Times New Roman" panose="02020603050405020304" pitchFamily="18" charset="0"/>
                          <a:cs typeface="Times New Roman" panose="02020603050405020304" pitchFamily="18" charset="0"/>
                        </a:rPr>
                        <a:t>Wi-Fi app link caused delay on stick</a:t>
                      </a:r>
                    </a:p>
                    <a:p>
                      <a:endParaRPr lang="en-UG"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545960"/>
                          </a:solidFill>
                          <a:latin typeface="Times New Roman" panose="02020603050405020304" pitchFamily="18" charset="0"/>
                          <a:cs typeface="Times New Roman" panose="02020603050405020304" pitchFamily="18" charset="0"/>
                        </a:rPr>
                        <a:t>Returned stick to local audio guidance with immediate stop and scan commands.</a:t>
                      </a:r>
                    </a:p>
                  </a:txBody>
                  <a:tcPr/>
                </a:tc>
                <a:extLst>
                  <a:ext uri="{0D108BD9-81ED-4DB2-BD59-A6C34878D82A}">
                    <a16:rowId xmlns:a16="http://schemas.microsoft.com/office/drawing/2014/main" val="1735073711"/>
                  </a:ext>
                </a:extLst>
              </a:tr>
              <a:tr h="78288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141F36"/>
                          </a:solidFill>
                          <a:latin typeface="Times New Roman" panose="02020603050405020304" pitchFamily="18" charset="0"/>
                          <a:cs typeface="Times New Roman" panose="02020603050405020304" pitchFamily="18" charset="0"/>
                        </a:rPr>
                        <a:t>Camera signs can detect random letters</a:t>
                      </a:r>
                    </a:p>
                    <a:p>
                      <a:endParaRPr lang="en-UG"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solidFill>
                            <a:srgbClr val="545960"/>
                          </a:solidFill>
                          <a:latin typeface="Times New Roman" panose="02020603050405020304" pitchFamily="18" charset="0"/>
                          <a:cs typeface="Times New Roman" panose="02020603050405020304" pitchFamily="18" charset="0"/>
                        </a:rPr>
                        <a:t>Added hold-time filtering, camera backup mode, and train-selected-letter workflow.</a:t>
                      </a:r>
                    </a:p>
                  </a:txBody>
                  <a:tcPr/>
                </a:tc>
                <a:extLst>
                  <a:ext uri="{0D108BD9-81ED-4DB2-BD59-A6C34878D82A}">
                    <a16:rowId xmlns:a16="http://schemas.microsoft.com/office/drawing/2014/main" val="3282326473"/>
                  </a:ext>
                </a:extLst>
              </a:tr>
            </a:tbl>
          </a:graphicData>
        </a:graphic>
      </p:graphicFrame>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63C8A74-171E-C632-D7F3-21983DCA7E30}"/>
              </a:ext>
            </a:extLst>
          </p:cNvPr>
          <p:cNvPicPr>
            <a:picLocks noChangeAspect="1"/>
          </p:cNvPicPr>
          <p:nvPr/>
        </p:nvPicPr>
        <p:blipFill>
          <a:blip r:embed="rId2"/>
          <a:stretch>
            <a:fillRect/>
          </a:stretch>
        </p:blipFill>
        <p:spPr>
          <a:xfrm>
            <a:off x="0" y="0"/>
            <a:ext cx="12192000" cy="6857999"/>
          </a:xfrm>
          <a:prstGeom prst="rect">
            <a:avLst/>
          </a:prstGeom>
        </p:spPr>
      </p:pic>
      <p:sp>
        <p:nvSpPr>
          <p:cNvPr id="2" name="Title 1"/>
          <p:cNvSpPr>
            <a:spLocks noGrp="1"/>
          </p:cNvSpPr>
          <p:nvPr>
            <p:ph type="title"/>
          </p:nvPr>
        </p:nvSpPr>
        <p:spPr>
          <a:xfrm>
            <a:off x="400877" y="481065"/>
            <a:ext cx="8229600" cy="1143000"/>
          </a:xfrm>
        </p:spPr>
        <p:txBody>
          <a:bodyPr>
            <a:normAutofit/>
          </a:bodyPr>
          <a:lstStyle/>
          <a:p>
            <a:pPr algn="ctr"/>
            <a:r>
              <a:rPr lang="en-US" dirty="0">
                <a:latin typeface="Times New Roman" panose="02020603050405020304" pitchFamily="18" charset="0"/>
                <a:cs typeface="Times New Roman" panose="02020603050405020304" pitchFamily="18" charset="0"/>
              </a:rPr>
              <a:t>References used</a:t>
            </a:r>
          </a:p>
        </p:txBody>
      </p:sp>
      <p:sp>
        <p:nvSpPr>
          <p:cNvPr id="3" name="Content Placeholder 2"/>
          <p:cNvSpPr>
            <a:spLocks noGrp="1"/>
          </p:cNvSpPr>
          <p:nvPr>
            <p:ph idx="1"/>
          </p:nvPr>
        </p:nvSpPr>
        <p:spPr>
          <a:xfrm>
            <a:off x="400877" y="1611175"/>
            <a:ext cx="11227905" cy="4667250"/>
          </a:xfrm>
        </p:spPr>
        <p:txBody>
          <a:bodyPr>
            <a:noAutofit/>
          </a:bodyPr>
          <a:lstStyle/>
          <a:p>
            <a:pPr marL="342900" indent="-342900">
              <a:buFont typeface="+mj-lt"/>
              <a:buAutoNum type="arabicPeriod"/>
            </a:pPr>
            <a:r>
              <a:rPr lang="en-US" sz="1600" i="1" dirty="0">
                <a:latin typeface="Times New Roman" panose="02020603050405020304" pitchFamily="18" charset="0"/>
                <a:cs typeface="Times New Roman" panose="02020603050405020304" pitchFamily="18" charset="0"/>
              </a:rPr>
              <a:t>UNDP (2023). A Resilient Future for All: Advancing Disability Inclusion in Disaster Risk Reduction. United Nations Development </a:t>
            </a:r>
            <a:r>
              <a:rPr lang="en-US" sz="1600" i="1" dirty="0" err="1">
                <a:latin typeface="Times New Roman" panose="02020603050405020304" pitchFamily="18" charset="0"/>
                <a:cs typeface="Times New Roman" panose="02020603050405020304" pitchFamily="18" charset="0"/>
              </a:rPr>
              <a:t>Programme</a:t>
            </a:r>
            <a:r>
              <a:rPr lang="en-US" sz="1600" i="1" dirty="0">
                <a:latin typeface="Times New Roman" panose="02020603050405020304" pitchFamily="18" charset="0"/>
                <a:cs typeface="Times New Roman" panose="02020603050405020304" pitchFamily="18" charset="0"/>
              </a:rPr>
              <a:t>. Available at: </a:t>
            </a:r>
            <a:r>
              <a:rPr lang="en-US" sz="1600" i="1" dirty="0">
                <a:latin typeface="Times New Roman" panose="02020603050405020304" pitchFamily="18" charset="0"/>
                <a:cs typeface="Times New Roman" panose="02020603050405020304" pitchFamily="18" charset="0"/>
                <a:hlinkClick r:id="rId3"/>
              </a:rPr>
              <a:t>https://www.undp.org/sites/g/files/zskgke326/files/2023-11/undp-a-resilient-future-for-all-advancing-disability-inclusion-in-drr.pdf</a:t>
            </a:r>
            <a:endParaRPr lang="en-US" sz="1600" i="1"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600" i="1" dirty="0">
                <a:latin typeface="Times New Roman" panose="02020603050405020304" pitchFamily="18" charset="0"/>
                <a:cs typeface="Times New Roman" panose="02020603050405020304" pitchFamily="18" charset="0"/>
              </a:rPr>
              <a:t>WHO (2024). Assistive Technology. World Health Organization. Available at: </a:t>
            </a:r>
            <a:r>
              <a:rPr lang="en-US" sz="1600" i="1" dirty="0">
                <a:latin typeface="Times New Roman" panose="02020603050405020304" pitchFamily="18" charset="0"/>
                <a:cs typeface="Times New Roman" panose="02020603050405020304" pitchFamily="18" charset="0"/>
                <a:hlinkClick r:id="rId4"/>
              </a:rPr>
              <a:t>https://www.who.int/health-topics/assistive-technology</a:t>
            </a:r>
            <a:endParaRPr lang="en-US" sz="1600" i="1"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600" i="1" dirty="0">
                <a:latin typeface="Times New Roman" panose="02020603050405020304" pitchFamily="18" charset="0"/>
                <a:cs typeface="Times New Roman" panose="02020603050405020304" pitchFamily="18" charset="0"/>
              </a:rPr>
              <a:t>UBOS (2023). Uganda Rapid Assistive Technology Assessment 2023. Uganda Bureau of Statistics. Available at: </a:t>
            </a:r>
            <a:r>
              <a:rPr lang="en-US" sz="1600" i="1" dirty="0">
                <a:latin typeface="Times New Roman" panose="02020603050405020304" pitchFamily="18" charset="0"/>
                <a:cs typeface="Times New Roman" panose="02020603050405020304" pitchFamily="18" charset="0"/>
                <a:hlinkClick r:id="rId5"/>
              </a:rPr>
              <a:t>https://library.health.go.ug/sites/default/files/resources/Uganda%20rapid%20Assistive%20Technology%20Assessment%20Booklet%20V.3-2%20Final.pdf</a:t>
            </a:r>
            <a:endParaRPr lang="en-US" sz="1600" i="1"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600" b="1" i="1" dirty="0">
                <a:latin typeface="Times New Roman" panose="02020603050405020304" pitchFamily="18" charset="0"/>
                <a:cs typeface="Times New Roman" panose="02020603050405020304" pitchFamily="18" charset="0"/>
              </a:rPr>
              <a:t>Ambar, R., Salim, S., Abd Wahab, M.H., Abdul Jamil, M.M. &amp; Ching Phing, T.</a:t>
            </a:r>
            <a:r>
              <a:rPr lang="en-US" sz="1600" i="1" dirty="0">
                <a:latin typeface="Times New Roman" panose="02020603050405020304" pitchFamily="18" charset="0"/>
                <a:cs typeface="Times New Roman" panose="02020603050405020304" pitchFamily="18" charset="0"/>
              </a:rPr>
              <a:t> (2023). Development of a wearable sensor glove for real-time sign language translation. Annals of Emerging Technologies in Computing, 7(5), 25–38. Available at: </a:t>
            </a:r>
            <a:r>
              <a:rPr lang="en-US" sz="1600" i="1" dirty="0">
                <a:latin typeface="Times New Roman" panose="02020603050405020304" pitchFamily="18" charset="0"/>
                <a:cs typeface="Times New Roman" panose="02020603050405020304" pitchFamily="18" charset="0"/>
                <a:hlinkClick r:id="rId6"/>
              </a:rPr>
              <a:t>https://doi.org/10.33166/aetic.2023.05.003</a:t>
            </a:r>
            <a:endParaRPr lang="en-US" sz="1600" i="1"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600" b="1" i="1" dirty="0">
                <a:latin typeface="Times New Roman" panose="02020603050405020304" pitchFamily="18" charset="0"/>
                <a:cs typeface="Times New Roman" panose="02020603050405020304" pitchFamily="18" charset="0"/>
              </a:rPr>
              <a:t>Abougarair, A.J. &amp; Arebi, W.A.</a:t>
            </a:r>
            <a:r>
              <a:rPr lang="en-US" sz="1600" i="1" dirty="0">
                <a:latin typeface="Times New Roman" panose="02020603050405020304" pitchFamily="18" charset="0"/>
                <a:cs typeface="Times New Roman" panose="02020603050405020304" pitchFamily="18" charset="0"/>
              </a:rPr>
              <a:t> (2022). Smart glove for sign language translation. International Journal of Robotics and Automation, 8(2), 109–117. Available at: </a:t>
            </a:r>
            <a:r>
              <a:rPr lang="en-US" sz="1600" i="1" dirty="0">
                <a:latin typeface="Times New Roman" panose="02020603050405020304" pitchFamily="18" charset="0"/>
                <a:cs typeface="Times New Roman" panose="02020603050405020304" pitchFamily="18" charset="0"/>
                <a:hlinkClick r:id="rId7"/>
              </a:rPr>
              <a:t>https://medcraveonline.com/IRATJ/IRATJ-08-00253.pdf</a:t>
            </a:r>
            <a:endParaRPr lang="en-US" sz="1600" i="1"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600" b="1" i="1" dirty="0">
                <a:latin typeface="Times New Roman" panose="02020603050405020304" pitchFamily="18" charset="0"/>
                <a:cs typeface="Times New Roman" panose="02020603050405020304" pitchFamily="18" charset="0"/>
              </a:rPr>
              <a:t>Olayiwola, A., Olayode, W., Akintayo, T., Oyedeji, A., Olayiwola, D., </a:t>
            </a:r>
            <a:r>
              <a:rPr lang="en-US" sz="1600" b="1" i="1" dirty="0" err="1">
                <a:latin typeface="Times New Roman" panose="02020603050405020304" pitchFamily="18" charset="0"/>
                <a:cs typeface="Times New Roman" panose="02020603050405020304" pitchFamily="18" charset="0"/>
              </a:rPr>
              <a:t>Osifeko</a:t>
            </a:r>
            <a:r>
              <a:rPr lang="en-US" sz="1600" b="1" i="1" dirty="0">
                <a:latin typeface="Times New Roman" panose="02020603050405020304" pitchFamily="18" charset="0"/>
                <a:cs typeface="Times New Roman" panose="02020603050405020304" pitchFamily="18" charset="0"/>
              </a:rPr>
              <a:t>, M. &amp; </a:t>
            </a:r>
            <a:r>
              <a:rPr lang="en-US" sz="1600" b="1" i="1" dirty="0" err="1">
                <a:latin typeface="Times New Roman" panose="02020603050405020304" pitchFamily="18" charset="0"/>
                <a:cs typeface="Times New Roman" panose="02020603050405020304" pitchFamily="18" charset="0"/>
              </a:rPr>
              <a:t>Abolade</a:t>
            </a:r>
            <a:r>
              <a:rPr lang="en-US" sz="1600" b="1" i="1" dirty="0">
                <a:latin typeface="Times New Roman" panose="02020603050405020304" pitchFamily="18" charset="0"/>
                <a:cs typeface="Times New Roman" panose="02020603050405020304" pitchFamily="18" charset="0"/>
              </a:rPr>
              <a:t>, O.</a:t>
            </a:r>
            <a:r>
              <a:rPr lang="en-US" sz="1600" i="1" dirty="0">
                <a:latin typeface="Times New Roman" panose="02020603050405020304" pitchFamily="18" charset="0"/>
                <a:cs typeface="Times New Roman" panose="02020603050405020304" pitchFamily="18" charset="0"/>
              </a:rPr>
              <a:t> (2025). A smart walking stick with voice guidance in an African language for visually impaired persons. Journal of Electrical Systems and Information Technology, 12, 67. Available at: </a:t>
            </a:r>
            <a:r>
              <a:rPr lang="en-US" sz="1600" i="1" dirty="0">
                <a:latin typeface="Times New Roman" panose="02020603050405020304" pitchFamily="18" charset="0"/>
                <a:cs typeface="Times New Roman" panose="02020603050405020304" pitchFamily="18" charset="0"/>
                <a:hlinkClick r:id="rId8"/>
              </a:rPr>
              <a:t>https://doi.org/10.1186/s43067-025-00254-5</a:t>
            </a:r>
            <a:endParaRPr lang="en-US" sz="1600" i="1"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1600" b="1" i="1" dirty="0">
                <a:latin typeface="Times New Roman" panose="02020603050405020304" pitchFamily="18" charset="0"/>
                <a:cs typeface="Times New Roman" panose="02020603050405020304" pitchFamily="18" charset="0"/>
              </a:rPr>
              <a:t>Farooq, M.S., Shafi, I., Khan, H., Díez, I.D.L.T., </a:t>
            </a:r>
            <a:r>
              <a:rPr lang="en-US" sz="1600" b="1" i="1" dirty="0" err="1">
                <a:latin typeface="Times New Roman" panose="02020603050405020304" pitchFamily="18" charset="0"/>
                <a:cs typeface="Times New Roman" panose="02020603050405020304" pitchFamily="18" charset="0"/>
              </a:rPr>
              <a:t>Breñosa</a:t>
            </a:r>
            <a:r>
              <a:rPr lang="en-US" sz="1600" b="1" i="1" dirty="0">
                <a:latin typeface="Times New Roman" panose="02020603050405020304" pitchFamily="18" charset="0"/>
                <a:cs typeface="Times New Roman" panose="02020603050405020304" pitchFamily="18" charset="0"/>
              </a:rPr>
              <a:t>, J., Martínez Espinosa, J.C. &amp; Ashraf, I.</a:t>
            </a:r>
            <a:r>
              <a:rPr lang="en-US" sz="1600" i="1" dirty="0">
                <a:latin typeface="Times New Roman" panose="02020603050405020304" pitchFamily="18" charset="0"/>
                <a:cs typeface="Times New Roman" panose="02020603050405020304" pitchFamily="18" charset="0"/>
              </a:rPr>
              <a:t> (2022). IoT enabled intelligent stick for visually impaired people for obstacle recognition. Sensors, 22(22), 8914. Available at: https://doi.org/10.3390/s22228914</a:t>
            </a:r>
          </a:p>
        </p:txBody>
      </p:sp>
      <p:cxnSp>
        <p:nvCxnSpPr>
          <p:cNvPr id="9" name="Straight Connector 8">
            <a:extLst>
              <a:ext uri="{FF2B5EF4-FFF2-40B4-BE49-F238E27FC236}">
                <a16:creationId xmlns:a16="http://schemas.microsoft.com/office/drawing/2014/main" id="{EC10596C-9574-A5D8-00F3-52D5FE02529D}"/>
              </a:ext>
            </a:extLst>
          </p:cNvPr>
          <p:cNvCxnSpPr>
            <a:cxnSpLocks/>
          </p:cNvCxnSpPr>
          <p:nvPr/>
        </p:nvCxnSpPr>
        <p:spPr>
          <a:xfrm>
            <a:off x="2574235" y="1451114"/>
            <a:ext cx="961776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0" name="Picture 9" descr="This may contain: the letter s is made up of two intersecting lines, and it appears to be black">
            <a:extLst>
              <a:ext uri="{FF2B5EF4-FFF2-40B4-BE49-F238E27FC236}">
                <a16:creationId xmlns:a16="http://schemas.microsoft.com/office/drawing/2014/main" id="{BFADBF29-7BCF-0DE0-FEC2-F332D3F179AC}"/>
              </a:ext>
            </a:extLst>
          </p:cNvPr>
          <p:cNvPicPr>
            <a:picLocks noChangeAspect="1" noChangeArrowheads="1"/>
          </p:cNvPicPr>
          <p:nvPr/>
        </p:nvPicPr>
        <p:blipFill>
          <a:blip r:embed="rId9" cstate="print">
            <a:extLst>
              <a:ext uri="{BEBA8EAE-BF5A-486C-A8C5-ECC9F3942E4B}">
                <a14:imgProps xmlns:a14="http://schemas.microsoft.com/office/drawing/2010/main">
                  <a14:imgLayer r:embed="rId10">
                    <a14:imgEffect>
                      <a14:backgroundRemoval t="10000" b="90000" l="10000" r="90000">
                        <a14:foregroundMark x1="35623" y1="60383" x2="35623" y2="60383"/>
                        <a14:foregroundMark x1="60703" y1="41054" x2="60703" y2="41054"/>
                      </a14:backgroundRemoval>
                    </a14:imgEffect>
                  </a14:imgLayer>
                </a14:imgProps>
              </a:ext>
              <a:ext uri="{28A0092B-C50C-407E-A947-70E740481C1C}">
                <a14:useLocalDpi xmlns:a14="http://schemas.microsoft.com/office/drawing/2010/main" val="0"/>
              </a:ext>
            </a:extLst>
          </a:blip>
          <a:srcRect/>
          <a:stretch>
            <a:fillRect/>
          </a:stretch>
        </p:blipFill>
        <p:spPr bwMode="auto">
          <a:xfrm>
            <a:off x="0" y="-123306"/>
            <a:ext cx="1365697" cy="1365697"/>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BE939FED-DC52-4866-B3E8-36E80950E02A}"/>
              </a:ext>
            </a:extLst>
          </p:cNvPr>
          <p:cNvSpPr>
            <a:spLocks noGrp="1"/>
          </p:cNvSpPr>
          <p:nvPr>
            <p:ph type="sldNum" sz="quarter" idx="12"/>
          </p:nvPr>
        </p:nvSpPr>
        <p:spPr/>
        <p:txBody>
          <a:bodyPr/>
          <a:lstStyle/>
          <a:p>
            <a:fld id="{59198F8E-9E1E-4209-934C-4DCBBC18FC64}" type="slidenum">
              <a:rPr lang="en-US" smtClean="0"/>
              <a:t>8</a:t>
            </a:fld>
            <a:endParaRPr lang="en-US"/>
          </a:p>
        </p:txBody>
      </p:sp>
    </p:spTree>
    <p:extLst>
      <p:ext uri="{BB962C8B-B14F-4D97-AF65-F5344CB8AC3E}">
        <p14:creationId xmlns:p14="http://schemas.microsoft.com/office/powerpoint/2010/main" val="36427614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668E5D9-6D2B-76A7-FFB5-D3D43452B853}"/>
              </a:ext>
            </a:extLst>
          </p:cNvPr>
          <p:cNvPicPr>
            <a:picLocks noChangeAspect="1"/>
          </p:cNvPicPr>
          <p:nvPr/>
        </p:nvPicPr>
        <p:blipFill>
          <a:blip r:embed="rId2"/>
          <a:stretch>
            <a:fillRect/>
          </a:stretch>
        </p:blipFill>
        <p:spPr>
          <a:xfrm>
            <a:off x="0" y="0"/>
            <a:ext cx="12192000" cy="6857999"/>
          </a:xfrm>
          <a:prstGeom prst="rect">
            <a:avLst/>
          </a:prstGeom>
        </p:spPr>
      </p:pic>
      <p:sp>
        <p:nvSpPr>
          <p:cNvPr id="3" name="Content Placeholder 2"/>
          <p:cNvSpPr>
            <a:spLocks noGrp="1"/>
          </p:cNvSpPr>
          <p:nvPr>
            <p:ph idx="1"/>
          </p:nvPr>
        </p:nvSpPr>
        <p:spPr>
          <a:xfrm>
            <a:off x="695739" y="2015504"/>
            <a:ext cx="10979426" cy="4725849"/>
          </a:xfrm>
        </p:spPr>
        <p:txBody>
          <a:bodyPr>
            <a:normAutofit/>
          </a:bodyPr>
          <a:lstStyle/>
          <a:p>
            <a:pPr marL="0" indent="0" algn="ctr">
              <a:buNone/>
            </a:pPr>
            <a:endParaRPr lang="en-US" sz="8000" dirty="0"/>
          </a:p>
          <a:p>
            <a:pPr marL="0" indent="0" algn="ctr">
              <a:buNone/>
            </a:pPr>
            <a:r>
              <a:rPr lang="en-US" sz="8000" dirty="0">
                <a:latin typeface="Times New Roman" panose="02020603050405020304" pitchFamily="18" charset="0"/>
                <a:cs typeface="Times New Roman" panose="02020603050405020304" pitchFamily="18" charset="0"/>
              </a:rPr>
              <a:t>THANK YOU </a:t>
            </a:r>
          </a:p>
          <a:p>
            <a:pPr marL="0" indent="0" algn="ctr">
              <a:buNone/>
            </a:pPr>
            <a:endParaRPr lang="en-US" sz="8000" dirty="0"/>
          </a:p>
        </p:txBody>
      </p:sp>
      <p:pic>
        <p:nvPicPr>
          <p:cNvPr id="2" name="Picture 1" descr="This may contain: the letter s is made up of two intersecting lines, and it appears to be black">
            <a:extLst>
              <a:ext uri="{FF2B5EF4-FFF2-40B4-BE49-F238E27FC236}">
                <a16:creationId xmlns:a16="http://schemas.microsoft.com/office/drawing/2014/main" id="{ED766758-7351-8703-41E6-0A5E2C4CF582}"/>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backgroundRemoval t="10000" b="90000" l="10000" r="90000">
                        <a14:foregroundMark x1="35623" y1="60383" x2="35623" y2="60383"/>
                        <a14:foregroundMark x1="60703" y1="41054" x2="60703" y2="41054"/>
                      </a14:backgroundRemoval>
                    </a14:imgEffect>
                  </a14:imgLayer>
                </a14:imgProps>
              </a:ext>
              <a:ext uri="{28A0092B-C50C-407E-A947-70E740481C1C}">
                <a14:useLocalDpi xmlns:a14="http://schemas.microsoft.com/office/drawing/2010/main" val="0"/>
              </a:ext>
            </a:extLst>
          </a:blip>
          <a:srcRect/>
          <a:stretch>
            <a:fillRect/>
          </a:stretch>
        </p:blipFill>
        <p:spPr bwMode="auto">
          <a:xfrm>
            <a:off x="3871291" y="-320086"/>
            <a:ext cx="4449418" cy="444941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92A8CD8-CAC8-4A82-6691-DCF24A40946E}"/>
              </a:ext>
            </a:extLst>
          </p:cNvPr>
          <p:cNvSpPr txBox="1"/>
          <p:nvPr/>
        </p:nvSpPr>
        <p:spPr>
          <a:xfrm>
            <a:off x="4531000" y="4863478"/>
            <a:ext cx="3308903"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SIGNASENSE</a:t>
            </a:r>
            <a:endParaRPr lang="en-UG" sz="3600" dirty="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AA042640-2092-E5CE-DA8E-05381817BB40}"/>
              </a:ext>
            </a:extLst>
          </p:cNvPr>
          <p:cNvCxnSpPr>
            <a:cxnSpLocks/>
          </p:cNvCxnSpPr>
          <p:nvPr/>
        </p:nvCxnSpPr>
        <p:spPr>
          <a:xfrm>
            <a:off x="3160638" y="4807950"/>
            <a:ext cx="90512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09A38BEE-B331-AD61-1759-F7164EC7BCBE}"/>
              </a:ext>
            </a:extLst>
          </p:cNvPr>
          <p:cNvSpPr>
            <a:spLocks noGrp="1"/>
          </p:cNvSpPr>
          <p:nvPr>
            <p:ph type="sldNum" sz="quarter" idx="12"/>
          </p:nvPr>
        </p:nvSpPr>
        <p:spPr/>
        <p:txBody>
          <a:bodyPr/>
          <a:lstStyle/>
          <a:p>
            <a:fld id="{59198F8E-9E1E-4209-934C-4DCBBC18FC64}" type="slidenum">
              <a:rPr lang="en-US" smtClean="0"/>
              <a:t>9</a:t>
            </a:fld>
            <a:endParaRPr lang="en-US"/>
          </a:p>
        </p:txBody>
      </p:sp>
    </p:spTree>
    <p:extLst>
      <p:ext uri="{BB962C8B-B14F-4D97-AF65-F5344CB8AC3E}">
        <p14:creationId xmlns:p14="http://schemas.microsoft.com/office/powerpoint/2010/main" val="173511473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42</TotalTime>
  <Words>1145</Words>
  <Application>Microsoft Office PowerPoint</Application>
  <PresentationFormat>Widescreen</PresentationFormat>
  <Paragraphs>111</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Times New Roman</vt:lpstr>
      <vt:lpstr>Wingdings</vt:lpstr>
      <vt:lpstr>Office Theme</vt:lpstr>
      <vt:lpstr>SIGNASENSE</vt:lpstr>
      <vt:lpstr>Background</vt:lpstr>
      <vt:lpstr>The Problem Statement</vt:lpstr>
      <vt:lpstr>Objectives</vt:lpstr>
      <vt:lpstr>Literature Review</vt:lpstr>
      <vt:lpstr>PowerPoint Presentation</vt:lpstr>
      <vt:lpstr>PowerPoint Presentation</vt:lpstr>
      <vt:lpstr>References used</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MARY ADEKE</cp:lastModifiedBy>
  <cp:revision>7</cp:revision>
  <dcterms:created xsi:type="dcterms:W3CDTF">2013-01-27T09:14:16Z</dcterms:created>
  <dcterms:modified xsi:type="dcterms:W3CDTF">2026-05-06T15:07:00Z</dcterms:modified>
  <cp:category/>
</cp:coreProperties>
</file>